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336" r:id="rId3"/>
    <p:sldId id="302" r:id="rId4"/>
    <p:sldId id="262" r:id="rId5"/>
    <p:sldId id="316" r:id="rId6"/>
    <p:sldId id="321" r:id="rId7"/>
    <p:sldId id="335" r:id="rId8"/>
    <p:sldId id="344" r:id="rId9"/>
    <p:sldId id="327" r:id="rId10"/>
    <p:sldId id="320" r:id="rId11"/>
    <p:sldId id="314" r:id="rId12"/>
    <p:sldId id="315" r:id="rId13"/>
    <p:sldId id="317" r:id="rId14"/>
    <p:sldId id="318" r:id="rId15"/>
    <p:sldId id="342" r:id="rId16"/>
    <p:sldId id="343" r:id="rId17"/>
    <p:sldId id="345" r:id="rId18"/>
    <p:sldId id="328" r:id="rId19"/>
    <p:sldId id="340" r:id="rId20"/>
    <p:sldId id="330" r:id="rId21"/>
    <p:sldId id="331" r:id="rId22"/>
    <p:sldId id="332" r:id="rId23"/>
    <p:sldId id="333" r:id="rId24"/>
    <p:sldId id="337" r:id="rId25"/>
    <p:sldId id="338" r:id="rId26"/>
    <p:sldId id="326" r:id="rId27"/>
    <p:sldId id="329" r:id="rId28"/>
    <p:sldId id="322" r:id="rId29"/>
    <p:sldId id="323" r:id="rId30"/>
    <p:sldId id="325" r:id="rId31"/>
    <p:sldId id="324" r:id="rId3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0432966-9EA7-85D2-D373-E1001DE217E3}" name="Sven Heiter (sheiter)" initials="S(" userId="S::sven.heiter@smail.th-koeln.de::28f521ec-aec1-4944-9c96-7103c4d292a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A72E"/>
    <a:srgbClr val="1E1E1E"/>
    <a:srgbClr val="D4D4D4"/>
    <a:srgbClr val="404040"/>
    <a:srgbClr val="3F3F3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" y="6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5T12:46:58.794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711 1 6447 0 0,'0'0'5632'0'0,"-3"9"-5270"0"0,3-8-356 0 0,-1-1 0 0 0,1 1 0 0 0,-1 0 0 0 0,0 0 0 0 0,0-1 0 0 0,0 1 0 0 0,1 0 0 0 0,-1-1 0 0 0,0 1 0 0 0,0-1 0 0 0,0 1 0 0 0,-2 0 0 0 0,-13 7-6 0 0,11-5 1 0 0,-13 7-3 0 0,0 2 15 0 0,12-7 64 0 0,0 0 0 0 0,0 0 0 0 0,0 0 0 0 0,1 1 0 0 0,0 0 0 0 0,-8 11 0 0 0,-21 42 1060 0 0,8-7-475 0 0,-23 40-249 0 0,12-25-285 0 0,31-54-51 0 0,-11 25-1 0 0,-1 4 86 0 0,-23 51 408 0 0,27-55-396 0 0,-11 25 107 0 0,1-5 233 0 0,-29 111 1 0 0,46-141-452 0 0,-23 102 257 0 0,18-73 59 0 0,-22 67-1 0 0,-6 7-135 0 0,-6 38 5 0 0,31-96 20 0 0,-10 119 0 0 0,9 16 161 0 0,8-104-109 0 0,5-59-198 0 0,2 48 0 0 0,2-13-83 0 0,-4 28 53 0 0,-3 101 168 0 0,3-118-125 0 0,10 95-1 0 0,-2-140-111 0 0,1 22 18 0 0,-3 79 159 0 0,5-20 36 0 0,18 140-13 0 0,1-112 139 0 0,-2-36-155 0 0,1 11-118 0 0,14 38-26 0 0,-2-3 9 0 0,-10-3 224 0 0,15 78-159 0 0,82 369 66 0 0,0-239 13 0 0,-95-291-437 0 0,-19-48-586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5T12:46:58.796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817 33 3223 0 0,'0'-2'6570'0'0,"3"-16"-5080"0"0,-3 18-1455 0 0,0-1 0 0 0,0 1 0 0 0,0 0 1 0 0,0-1-1 0 0,1 1 0 0 0,-1-1 0 0 0,0 1 0 0 0,0-1 0 0 0,0 1 1 0 0,0 0-1 0 0,0-1 0 0 0,-1 1 0 0 0,1-1 0 0 0,0 1 0 0 0,0 0 0 0 0,0-1 1 0 0,0 1-1 0 0,0-1 0 0 0,0 1 0 0 0,-1 0 0 0 0,1-1 0 0 0,0 1 1 0 0,0 0-1 0 0,-1-1 0 0 0,1 1 0 0 0,0 0 0 0 0,0 0 0 0 0,-1-1 0 0 0,1 1 1 0 0,0 0-1 0 0,-1 0 0 0 0,1-1 0 0 0,0 1 0 0 0,-1 0 0 0 0,1 0 1 0 0,-1 0-1 0 0,1-1 0 0 0,0 1 0 0 0,-1 0 0 0 0,1 0 0 0 0,-1 0 1 0 0,1 0-1 0 0,0 0 0 0 0,-1 0 0 0 0,1 0 0 0 0,-1 0 0 0 0,-15 6 399 0 0,0 0 1 0 0,1 1-1 0 0,0 0 0 0 0,-21 14 0 0 0,-15 9 221 0 0,-75 29 533 0 0,111-50-1031 0 0,0 0 1 0 0,-23 21 0 0 0,21-16-37 0 0,-22 13-1 0 0,18-12-60 0 0,1 1-1 0 0,0 1 1 0 0,1 1-1 0 0,-30 36 1 0 0,11-11 56 0 0,21-23-14 0 0,1 2 1 0 0,1-1 0 0 0,1 2 0 0 0,-18 41 0 0 0,25-50-99 0 0,-28 63 214 0 0,-14 26 94 0 0,40-86-277 0 0,1 0 0 0 0,1 1 1 0 0,1 0-1 0 0,-7 31 1 0 0,7-16 45 0 0,-4 61-1 0 0,10-65-56 0 0,2 1 0 0 0,7 40 0 0 0,-4-44-2 0 0,0 0-1 0 0,2 0 0 0 0,1-1 1 0 0,1 0-1 0 0,20 39 0 0 0,-25-53-22 0 0,14 24 62 0 0,60 90 79 0 0,-76-122-143 0 0,2 4 11 0 0,1-1-1 0 0,-1 0 0 0 0,1 1 1 0 0,0-1-1 0 0,0-1 1 0 0,1 1-1 0 0,0-1 1 0 0,9 7-1 0 0,-2-4-204 0 0,1-1-1 0 0,0 0 1 0 0,0-1-1 0 0,1-1 1 0 0,-1 0 0 0 0,1-1-1 0 0,0 0 1 0 0,1-1-1 0 0,-1-1 1 0 0,0 0-1 0 0,22-1 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5T12:46:58.797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611 15 9583 0 0,'0'0'868'0'0,"-1"-1"-713"0"0,-11-12 1254 0 0,6 13-1125 0 0,-1 0-107 0 0,0 0 0 0 0,0 0-1 0 0,-11 3 1 0 0,0 0-126 0 0,13-2-2 0 0,0 0 1 0 0,-1 0-1 0 0,1 1 1 0 0,0 0-1 0 0,-6 2 1 0 0,-39 16 894 0 0,22-4 25 0 0,-50 36-1 0 0,66-41-796 0 0,0-1-1 0 0,1 1 0 0 0,0 1 1 0 0,1 0-1 0 0,-17 26 0 0 0,-12 28 200 0 0,3 1 0 0 0,-37 98-1 0 0,47-100-264 0 0,9-26 133 0 0,-15 55 0 0 0,25-66-103 0 0,-1 2 119 0 0,1 0 1 0 0,-5 42 0 0 0,11-52-208 0 0,0 0 0 0 0,4 35 0 0 0,-2-47-39 0 0,0 0 1 0 0,1 0 0 0 0,0 0 0 0 0,1-1-1 0 0,0 1 1 0 0,0-1 0 0 0,0 1 0 0 0,1-1-1 0 0,7 10 1 0 0,-5-8-10 0 0,0-1 0 0 0,1 0 0 0 0,0-1 0 0 0,0 1 0 0 0,0-2 0 0 0,1 1 0 0 0,0-1 0 0 0,0 0 0 0 0,1 0 0 0 0,0-1 0 0 0,0 0 0 0 0,13 4 0 0 0,-20-8 0 0 0,10 4-49 0 0,1-1 0 0 0,0 0 0 0 0,0-1 0 0 0,0 0 0 0 0,23 1 0 0 0,101 5-3131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5T12:46:58.798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643 58 7831 0 0,'-3'-54'7276'0'0,"3"53"-7245"0"0,-1 1 0 0 0,1 0-1 0 0,-1-1 1 0 0,1 1 0 0 0,-1 0 0 0 0,1 0-1 0 0,-1-1 1 0 0,0 1 0 0 0,1 0 0 0 0,-1 0-1 0 0,1 0 1 0 0,-1 0 0 0 0,0 0-1 0 0,1 0 1 0 0,-1 0 0 0 0,1 0 0 0 0,-1 0-1 0 0,1 0 1 0 0,-1 0 0 0 0,0 0 0 0 0,1 0-1 0 0,-1 0 1 0 0,1 0 0 0 0,-1 1-1 0 0,1-1 1 0 0,-2 0 0 0 0,-16 5 134 0 0,12-2-81 0 0,0 0 0 0 0,0 0-1 0 0,0 1 1 0 0,0-1 0 0 0,0 1 0 0 0,1 1 0 0 0,-1-1-1 0 0,-6 8 1 0 0,-5 7 461 0 0,-14 22 0 0 0,-6 6 80 0 0,-110 126 504 0 0,72-82-678 0 0,41-48-95 0 0,-54 90 0 0 0,63-87-40 0 0,3 1 0 0 0,-30 87 0 0 0,48-120-315 0 0,0 0 0 0 0,1 0 0 0 0,0 1 0 0 0,1-1 0 0 0,1 1 0 0 0,0-1 0 0 0,1 1 0 0 0,1-1-1 0 0,0 1 1 0 0,1-1 0 0 0,0 1 0 0 0,6 18 0 0 0,-3-19-1 0 0,0 1 0 0 0,0-1 0 0 0,2 0 0 0 0,0 0 0 0 0,0-1 0 0 0,1 0 0 0 0,1 0 0 0 0,0-1 0 0 0,1 0 0 0 0,0 0 0 0 0,1-1 0 0 0,0-1 0 0 0,0 0 0 0 0,22 14 0 0 0,-5-7-535 0 0,1-2-1 0 0,0-1 0 0 0,1-2 1 0 0,1 0-1 0 0,-1-2 1 0 0,47 8-1 0 0,-35-11-702 0 0,0-2 0 0 0,0-2 0 0 0,0-1 1 0 0,63-7-1 0 0,-52-1-3888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5T12:46:58.799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10 118 6447 0 0,'0'0'499'0'0,"-1"-3"-155"0"0,-2-6 824 0 0,1-1-1 0 0,0 0 1 0 0,1 0-1 0 0,0 0 1 0 0,1-16 267 0 0,1 24-1273 0 0,0 0-132 0 0,0-1 0 0 0,1 1 0 0 0,-1 0 0 0 0,1 0 0 0 0,-1 0 0 0 0,1-1 0 0 0,0 2 0 0 0,0-1 0 0 0,0 0 0 0 0,0 0 0 0 0,0 1 0 0 0,0-1 0 0 0,0 1 1 0 0,0-1-1 0 0,1 1 0 0 0,-1 0 0 0 0,1 0 0 0 0,-1 0 0 0 0,1 0 0 0 0,-1 1 0 0 0,5-2 0 0 0,-1 2 33 0 0,1-1 0 0 0,-1 1 0 0 0,1 0 0 0 0,-1 0 1 0 0,0 1-1 0 0,1 0 0 0 0,-1 0 0 0 0,8 2 0 0 0,13 3 229 0 0,-21-5-209 0 0,0 0 0 0 0,-1 0 0 0 0,1 1 0 0 0,0-1 0 0 0,9 6 1 0 0,21 9 676 0 0,54 18 1 0 0,22 10 432 0 0,-97-37-1115 0 0,5 2 5 0 0,-1 1 0 0 0,29 20 0 0 0,-19-10-65 0 0,-1 2-1 0 0,-2 1 1 0 0,0 1 0 0 0,-1 1 0 0 0,24 34 0 0 0,-36-42-9 0 0,3 4 25 0 0,13 24 0 0 0,-7-6 32 0 0,-4-8 23 0 0,-1 0 0 0 0,-2 1-1 0 0,20 59 1 0 0,-30-74-52 0 0,-1 0 0 0 0,0-1 0 0 0,-2 1 0 0 0,0 1 0 0 0,-1-1 0 0 0,0 0-1 0 0,-1 0 1 0 0,-5 27 0 0 0,0-14 34 0 0,0 7-38 0 0,-13 40 1 0 0,13-59-24 0 0,-1 0 0 0 0,-1 0 0 0 0,-1-1 0 0 0,-11 20 0 0 0,-34 48 54 0 0,-67 81 0 0 0,106-151-41 0 0,-1 0 0 0 0,-32 24-1 0 0,12-10-26 0 0,13-10-503 0 0,-1-2 1 0 0,-1 0-1 0 0,0-2 0 0 0,-1 0 0 0 0,-1-2 0 0 0,0-1 0 0 0,-42 14 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5T12:46:58.800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160 145 4143 0 0,'-11'-80'12056'0'0,"13"73"-11767"0"0,0 0 1 0 0,0 1-1 0 0,1-1 0 0 0,0 1 0 0 0,0 0 0 0 0,8-12 0 0 0,-10 17-203 0 0,8-2 123 0 0,-8 2-200 0 0,-1 1-1 0 0,1 0 1 0 0,0-1 0 0 0,-1 1 0 0 0,1 0-1 0 0,-1-1 1 0 0,1 1 0 0 0,0 0-1 0 0,-1 0 1 0 0,1 0 0 0 0,0 0 0 0 0,-1 0-1 0 0,1-1 1 0 0,0 1 0 0 0,-1 0-1 0 0,1 0 1 0 0,0 1 0 0 0,-1-1 0 0 0,1 0-1 0 0,0 0 1 0 0,-1 0 0 0 0,1 0 0 0 0,0 1-1 0 0,8 4 41 0 0,0 0 0 0 0,-1 1 0 0 0,0 0 0 0 0,0 1 0 0 0,0 0 0 0 0,-1 0 0 0 0,11 15 0 0 0,17 15 263 0 0,61 62 744 0 0,-70-74-813 0 0,-15-13-94 0 0,22 16 1 0 0,-12-11-52 0 0,28 30 0 0 0,5 5-28 0 0,-39-38-60 0 0,-1 0 0 0 0,0 1 0 0 0,-1 1 0 0 0,-1 0 0 0 0,0 1 0 0 0,10 19 0 0 0,50 115-21 0 0,-59-121 16 0 0,0 0 37 0 0,-1 2 0 0 0,-2-1 0 0 0,10 53 0 0 0,-15-58 46 0 0,-2 0 1 0 0,0 0-1 0 0,-2 0 0 0 0,-3 46 0 0 0,0-57-74 0 0,-1 0-1 0 0,0 0 1 0 0,-1 0-1 0 0,0-1 1 0 0,-1 1-1 0 0,-1-1 1 0 0,0 0-1 0 0,-1-1 1 0 0,-13 19-1 0 0,-5 5 36 0 0,-3-2 0 0 0,-38 39 0 0 0,49-57-18 0 0,-1-1 0 0 0,-1-1 0 0 0,0 0 0 0 0,-1-2 0 0 0,-39 20 0 0 0,-20 8 13 0 0,-40 18-142 0 0,-118 35-2897 0 0,176-70-393 0 0,35-14 1460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5T12:46:58.801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38 154 2759 0 0,'-38'-86'14564'0'0,"39"73"-13669"0"0,0 11-874 0 0,-1 0 0 0 0,1 0 1 0 0,0 0-1 0 0,0 0 0 0 0,0 1 0 0 0,0-1 1 0 0,0 0-1 0 0,0 1 0 0 0,0-1 0 0 0,1 1 1 0 0,-1-1-1 0 0,1 1 0 0 0,-1-1 0 0 0,3 0 1 0 0,23-14 136 0 0,-20 13-150 0 0,1 1 0 0 0,0 0 0 0 0,0 0 0 0 0,0 1 1 0 0,0 0-1 0 0,0 0 0 0 0,0 0 0 0 0,0 1 0 0 0,11 2 0 0 0,10 2 73 0 0,36 9 1 0 0,-19-3-4 0 0,15 4 204 0 0,-1 2 0 0 0,-1 2 1 0 0,-1 3-1 0 0,-1 3 1 0 0,99 56-1 0 0,-123-60-252 0 0,-1 1 0 0 0,-1 1-1 0 0,-2 2 1 0 0,0 1 0 0 0,-1 1-1 0 0,42 54 1 0 0,-50-54-10 0 0,-1 0 0 0 0,-1 2 0 0 0,-2 0-1 0 0,-1 1 1 0 0,-1 1 0 0 0,18 56 0 0 0,-21-51 75 0 0,-2 1 0 0 0,4 39 1 0 0,-11-62-36 0 0,-2 1 1 0 0,1-1 0 0 0,-2 0 0 0 0,0 1-1 0 0,0-1 1 0 0,-2 0 0 0 0,1 0 0 0 0,-2 0-1 0 0,-5 15 1 0 0,3-12-23 0 0,-1-1-1 0 0,-1 0 1 0 0,0 0-1 0 0,-1-1 1 0 0,-11 16-1 0 0,12-21-13 0 0,0-1-1 0 0,0 0 1 0 0,-1 0-1 0 0,0 0 1 0 0,-1-1 0 0 0,1 0-1 0 0,-1-1 1 0 0,-13 6-1 0 0,-48 21-109 0 0,-2-3-1 0 0,-1-4 0 0 0,-105 25 1 0 0,21-18-4361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5T12:46:58.802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1405 509 16759 0 0,'0'-25'633'0'0,"-1"-1"-1"0"0,-2 0 0 0 0,0 1 1 0 0,-10-33-1 0 0,8 41-236 0 0,-1 0-1 0 0,0 1 1 0 0,-1 0 0 0 0,-1 0 0 0 0,-1 1 0 0 0,0 0-1 0 0,-14-17 1 0 0,6 11-240 0 0,-1 1 1 0 0,-1 1-1 0 0,0 1 0 0 0,-1 0 1 0 0,-32-20-1 0 0,36 28-73 0 0,0 1-1 0 0,-1 1 0 0 0,0 0 1 0 0,0 1-1 0 0,-1 1 1 0 0,0 0-1 0 0,0 1 1 0 0,-30-3-1 0 0,30 6-96 0 0,1 1 1 0 0,-1 0-1 0 0,0 1 1 0 0,1 1-1 0 0,-1 1 0 0 0,1 1 1 0 0,-1 0-1 0 0,-21 8 0 0 0,-33 16-75 0 0,1 3-1 0 0,1 3 1 0 0,2 4-1 0 0,-79 55 0 0 0,122-74 75 0 0,2 1 0 0 0,0 1-1 0 0,1 1 1 0 0,1 1-1 0 0,0 1 1 0 0,-19 30-1 0 0,20-23-1 0 0,1 1 1 0 0,2 1-1 0 0,1 1 0 0 0,-21 63 0 0 0,12-13-71 0 0,-25 144-1 0 0,43-178 69 0 0,3 0 0 0 0,1 1 0 0 0,3-1 0 0 0,8 71 0 0 0,-2-77 1 0 0,2-1-1 0 0,1-1 1 0 0,3 1-1 0 0,23 57 1 0 0,-25-77-68 0 0,1 0 0 0 0,1 0 0 0 0,1-1-1 0 0,1-1 1 0 0,0 0 0 0 0,2-1 0 0 0,0-1 0 0 0,1 0 0 0 0,24 19 0 0 0,-18-20-77 0 0,1-2 1 0 0,1 0-1 0 0,0-1 0 0 0,1-2 0 0 0,0-1 1 0 0,1 0-1 0 0,0-2 0 0 0,1-1 1 0 0,47 7-1 0 0,-32-10 102 0 0,-1-1 1 0 0,1-2-1 0 0,0-2 1 0 0,-1-2-1 0 0,81-14 1 0 0,-76 5 267 0 0,0-2 1 0 0,0-1-1 0 0,-1-3 1 0 0,-1-2 0 0 0,-1-2-1 0 0,-1-1 1 0 0,72-51 0 0 0,-65 35-11 0 0,-1-2 0 0 0,-3-2 0 0 0,-1-2 0 0 0,-2-2 0 0 0,59-82 0 0 0,-64 72-122 0 0,-3-2 0 0 0,-2-1 1 0 0,32-83-1 0 0,-54 113-28 0 0,-1 0 1 0 0,-1 0-1 0 0,-1-1 0 0 0,-2 0 0 0 0,4-52 0 0 0,-10 64 25 0 0,0-1 0 0 0,0 0 0 0 0,-2 0-1 0 0,-1 1 1 0 0,0-1 0 0 0,-1 1 0 0 0,-1 0 0 0 0,-1 0 0 0 0,0 1-1 0 0,-14-26 1 0 0,7 21-79 0 0,-1 0-1 0 0,0 1 1 0 0,-2 1 0 0 0,0 1-1 0 0,-2 0 1 0 0,0 1 0 0 0,-1 1-1 0 0,0 1 1 0 0,-31-20 0 0 0,21 18-669 0 0,-1 2 1 0 0,0 1 0 0 0,-1 1 0 0 0,-1 1 0 0 0,0 2 0 0 0,-55-11 0 0 0,-4 7-2269 0 0,1 4-3598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5T12:46:58.803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1 1 18887 0 0,'0'0'4812'0'0,"0"3"-4844"0"0,31 286-3460 0 0,-29-246 1476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5T12:46:58.804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1 0 14743 0 0,'0'0'1312'0'0,"0"18"-1056"0"0,0 3-256 0 0,6 4 760 0 0,0-6 96 0 0,1-3 16 0 0,-2 5 8 0 0,-1 3-776 0 0,1 0-104 0 0,0 0-120 0 0,-3-1 24 0 0,-2-1-104 0 0,3 2-24 0 0,2 0-8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5T12:46:58.805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103 1 20039 0 0,'-3'26'888'0'0,"1"-4"184"0"0,2 5-856 0 0,0 4-216 0 0,0-1 0 0 0,3-1 0 0 0,0-3 128 0 0,-3 6-24 0 0,-1 1 0 0 0,1-1 0 0 0,0-1-1520 0 0,1 1-312 0 0,-1-2-56 0 0</inkml:trace>
  <inkml:trace contextRef="#ctx0" brushRef="#br0" timeOffset="1">103 1390 16583 0 0,'-13'33'1472'0'0,"7"-7"-1176"0"0,-1 4-232 0 0,2 6-64 0 0,-1-4 864 0 0,1 3 160 0 0,2 3 32 0 0,-2 4 0 0 0,-1 1-888 0 0,-2 2-168 0 0,0 0 0 0 0,1 3-96 0 0,-1 0-824 0 0,0 2-160 0 0,0 3-32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5T12:46:58.807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61 0 21823 0 0,'-13'29'968'0'0,"7"-3"200"0"0,0 6-936 0 0,2 5-232 0 0,3 1 0 0 0,1 4 0 0 0,5-2 160 0 0,-1 3-24 0 0,0 2 0 0 0,-1 0 0 0 0,2-2-1136 0 0,-1 0-232 0 0,1-4-48 0 0</inkml:trace>
  <inkml:trace contextRef="#ctx0" brushRef="#br0" timeOffset="1">89 1189 2759 0 0,'-2'21'120'0'0,"-1"-4"32"0"0,-4 6-152 0 0,-1 2 0 0 0,0 7 0 0 0,-19 121 15728 0 0,19-125-16336 0 0,2-3-960 0 0,-6-1-192 0 0,4-7-40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5T12:46:58.809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66 0 16583 0 0,'0'0'1472'0'0,"-10"15"-1112"0"0,4-2 440 0 0,1 1 160 0 0,-1 2 24 0 0,3 3 8 0 0,-1 4-1184 0 0,1 2-224 0 0,0 4-56 0 0,1 5-8 0 0,-4-2-1112 0 0,1 0-224 0 0,-4 19-40 0 0,5-4-16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5T12:46:58.810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4 1 11055 0 0,'0'0'984'0'0,"-1"14"-792"0"0,-1 1-192 0 0,5-1 0 0 0,4 1 1296 0 0,-1 1 216 0 0,2 3 48 0 0,0 2 8 0 0,0 1-1568 0 0,0 2-216 0 0,0 3-88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5T12:46:58.811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41 0 12895 0 0,'-15'24'1152'0'0,"9"-3"-928"0"0,1 6-224 0 0,0 1 0 0 0,0-4 1272 0 0,2 3 200 0 0,3 0 48 0 0,0 0 8 0 0,0 1-1272 0 0,0 2-256 0 0,-2 0 0 0 0,2-1-80 0 0,4-3-1072 0 0,-1 1-208 0 0,-2-1-48 0 0</inkml:trace>
  <inkml:trace contextRef="#ctx0" brushRef="#br0" timeOffset="1">183 1424 12895 0 0,'-5'28'1152'0'0,"0"4"-928"0"0,2 1-224 0 0,3 3 0 0 0,-1-1 824 0 0,2 0 112 0 0,-1 2 24 0 0,0 1 8 0 0,0 2-1712 0 0,2 0-344 0 0,-1-1-72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5T12:46:58.813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300 1 8751 0 0,'-12'33'776'0'0,"2"-4"-616"0"0,-1 8-160 0 0,3 2 0 0 0,0-1 2296 0 0,1 4 424 0 0,3-1 96 0 0,0 3 8 0 0,1 0-2496 0 0,0 0-496 0 0,1-1-104 0 0</inkml:trace>
  <inkml:trace contextRef="#ctx0" brushRef="#br0" timeOffset="1">73 1535 13823 0 0,'-14'28'608'0'0,"2"-6"128"0"0,0 4-584 0 0,0 2-152 0 0,4 3 0 0 0,2-2 0 0 0,1-4 1560 0 0,2-1 280 0 0,3-3 56 0 0,0 2 16 0 0,0-1-3048 0 0,3-3-608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5T12:46:58.815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90 0 5063 0 0,'-81'52'14239'0'0,"79"-42"-13390"0"0,-1 7-448 0 0,1 1 0 0 0,0 0 1 0 0,2 22-1 0 0,8 57-836 0 0,-3-49 308 0 0,-3-17-604 0 0,5 48-1530 0 0,-4-26-2770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5T12:46:58.816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21 0 9215 0 0,'0'0'816'0'0,"-8"15"-656"0"0,0 1-160 0 0,3 54 6624 0 0,8-51-4232 0 0,0 4-2392 0 0,1 1-392 0 0,-3 0-120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5T12:46:58.817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45 1 16439 0 0,'-13'20'728'0'0,"7"-5"152"0"0,-1-1-704 0 0,3 2-176 0 0,0-1 0 0 0,1-1 0 0 0,2 2 64 0 0,1 0-64 0 0,0 0 64 0 0,1 0-64 0 0,-1 2-1032 0 0,2-2-248 0 0,-1-3-40 0 0</inkml:trace>
  <inkml:trace contextRef="#ctx0" brushRef="#br0" timeOffset="1">43 891 11975 0 0,'-9'37'1064'0'0,"2"-10"-848"0"0,1 5-216 0 0,1 2 0 0 0,0 0 1032 0 0,1 1 168 0 0,4 3 32 0 0,-2 1 8 0 0,0-2-992 0 0,2 1-248 0 0,-1 1 0 0 0,1-1 0 0 0,-2-1-896 0 0,4 1-224 0 0,-4 2-40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5T12:46:58.822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714 312 12639 0 0,'-16'-41'1496'0'0,"-34"-65"0"0"0,41 92-1322 0 0,0-1 0 0 0,-1 1 0 0 0,-1 1 0 0 0,0 0 0 0 0,-1 0 0 0 0,0 1 0 0 0,-27-21 0 0 0,30 28-147 0 0,-1 0 0 0 0,1 1-1 0 0,-1-1 1 0 0,-1 2 0 0 0,1-1-1 0 0,0 2 1 0 0,-1-1 0 0 0,-14 0-1 0 0,6 1 4 0 0,-1 1-1 0 0,0 1 0 0 0,-32 3 1 0 0,39 0-22 0 0,1 0-1 0 0,-1 0 1 0 0,1 1 0 0 0,0 1 0 0 0,0 0 0 0 0,0 0 0 0 0,0 1 0 0 0,1 1 0 0 0,0 0 0 0 0,1 1 0 0 0,0 0 0 0 0,0 0 0 0 0,-10 12 0 0 0,4-3 5 0 0,1 1 0 0 0,1 0 0 0 0,0 1 0 0 0,2 0 0 0 0,0 1 0 0 0,-13 33 0 0 0,16-32-20 0 0,2 1-1 0 0,1-1 0 0 0,0 1 1 0 0,2 1-1 0 0,0-1 0 0 0,2 1 1 0 0,0 32-1 0 0,3-22-8 0 0,2-1 1 0 0,1 0-1 0 0,2 0 1 0 0,15 51 0 0 0,-12-56-5 0 0,1 0 1 0 0,1-1 0 0 0,1-1 0 0 0,1 0-1 0 0,1 0 1 0 0,25 32 0 0 0,-27-43-10 0 0,0 0-1 0 0,1-1 1 0 0,0 0 0 0 0,1-1-1 0 0,1 0 1 0 0,0-1 0 0 0,0-1-1 0 0,1 0 1 0 0,0-1 0 0 0,33 12-1 0 0,-33-15-4 0 0,0-2 0 0 0,1 0-1 0 0,-1 0 1 0 0,1-2 0 0 0,0 0-1 0 0,0-1 1 0 0,-1-1 0 0 0,30-2-1 0 0,-23-2-6 0 0,0 0 0 0 0,-1-2 0 0 0,1 0 0 0 0,-1-2-1 0 0,37-18 1 0 0,-27 9 60 0 0,-1-1 0 0 0,0-1 0 0 0,-2-2 0 0 0,-1-1 0 0 0,0-1 0 0 0,-2-2 0 0 0,29-33 0 0 0,-25 22 11 0 0,-3-1-1 0 0,0-2 0 0 0,-3 0 1 0 0,-1-2-1 0 0,19-49 0 0 0,-25 50 27 0 0,-1-2-1 0 0,12-55 1 0 0,-24 80 9 0 0,-2 1 1 0 0,1-1 0 0 0,-2 0 0 0 0,0 0-1 0 0,-1 0 1 0 0,-1 0 0 0 0,0 0 0 0 0,-2 0-1 0 0,-4-18 1 0 0,6 30-37 0 0,-2-1-1 0 0,1 0 1 0 0,0 1 0 0 0,-1-1-1 0 0,0 1 1 0 0,0 0-1 0 0,-1 0 1 0 0,1 0-1 0 0,-1 1 1 0 0,0-1 0 0 0,-1 1-1 0 0,1 0 1 0 0,-1 0-1 0 0,1 0 1 0 0,-1 1-1 0 0,0 0 1 0 0,-10-5 0 0 0,5 3-243 0 0,1 2 0 0 0,-1-1 1 0 0,0 1-1 0 0,-1 1 0 0 0,1 0 0 0 0,0 0 1 0 0,-1 1-1 0 0,1 0 0 0 0,-16 1 1 0 0,-24 5-1069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5T12:46:58.823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802 272 12895 0 0,'-40'-54'1063'0'0,"15"20"884"0"0,-34-36-1 0 0,48 59-1822 0 0,1 1-1 0 0,-2 0 1 0 0,0 1 0 0 0,0 1 0 0 0,0-1 0 0 0,-1 2 0 0 0,-16-8 0 0 0,13 8-102 0 0,-1 1 0 0 0,1 0 1 0 0,-2 2-1 0 0,-28-6 0 0 0,35 9-28 0 0,1 0 0 0 0,0 1 0 0 0,0 0 0 0 0,0 1 0 0 0,-1 0 0 0 0,1 1 0 0 0,0 0 0 0 0,0 0 0 0 0,-15 6 0 0 0,6 1-95 0 0,1 0 0 0 0,0 2 0 0 0,1 0 0 0 0,0 0 0 0 0,0 2 1 0 0,1 0-1 0 0,1 1 0 0 0,1 0 0 0 0,0 1 0 0 0,0 1 0 0 0,2 0 1 0 0,0 1-1 0 0,-11 20 0 0 0,5-4 28 0 0,2 0 0 0 0,1 1 0 0 0,1 1 0 0 0,2 1 0 0 0,2 0 0 0 0,-8 51 0 0 0,14-61 69 0 0,2 0 1 0 0,1 0-1 0 0,1 0 1 0 0,1 0-1 0 0,1 0 1 0 0,2 0-1 0 0,0-1 0 0 0,2 1 1 0 0,0-1-1 0 0,2 0 1 0 0,1-1-1 0 0,1 0 1 0 0,1 0-1 0 0,1-1 1 0 0,1 0-1 0 0,1-1 0 0 0,1-1 1 0 0,0 0-1 0 0,2-1 1 0 0,29 27-1 0 0,-17-22 30 0 0,0-2 0 0 0,2 0 0 0 0,1-2 0 0 0,0-2 0 0 0,1 0-1 0 0,2-3 1 0 0,-1 0 0 0 0,2-3 0 0 0,44 12 0 0 0,-62-22-8 0 0,-1 0-1 0 0,1-1 1 0 0,0-1 0 0 0,-1-1 0 0 0,1 0 0 0 0,0-1-1 0 0,-1-1 1 0 0,1-1 0 0 0,-1-1 0 0 0,1 0 0 0 0,-1-1-1 0 0,28-13 1 0 0,-24 9-11 0 0,-1-2 1 0 0,0-1-1 0 0,-1 0 0 0 0,0-1 1 0 0,-1-1-1 0 0,-1-1 0 0 0,0 0 0 0 0,-1-2 1 0 0,20-25-1 0 0,-17 16 1 0 0,-1-1 1 0 0,-1-1-1 0 0,-1 0 0 0 0,-2-1 1 0 0,-1-1-1 0 0,-1 0 0 0 0,8-32 1 0 0,-14 38-4 0 0,-1-1 0 0 0,-1-1 0 0 0,-1 1 0 0 0,-1 0 0 0 0,-1-1 0 0 0,-2 1 0 0 0,0-1 0 0 0,-2 1 0 0 0,-8-36 0 0 0,7 44-133 0 0,-2 1-1 0 0,1 0 1 0 0,-2 0-1 0 0,0 1 1 0 0,-1 0-1 0 0,-1 0 1 0 0,0 1-1 0 0,0 0 0 0 0,-23-24 1 0 0,22 28-191 0 0,0 0 1 0 0,-1 1 0 0 0,0 0-1 0 0,-1 1 1 0 0,0 0-1 0 0,0 1 1 0 0,0 0-1 0 0,-1 1 1 0 0,0 0 0 0 0,-1 1-1 0 0,-27-7 1 0 0,-2 5-5048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5T12:46:58.824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797 273 9215 0 0,'-6'-24'-449'0'0,"-24"-82"5834"0"0,25 91-4085 0 0,-1 1 0 0 0,0 0 0 0 0,-1 0 0 0 0,-17-25 0 0 0,21 35-1281 0 0,1 0-1 0 0,-1 1 1 0 0,0-1 0 0 0,0 1-1 0 0,-1 0 1 0 0,1 0 0 0 0,-1 1-1 0 0,0-1 1 0 0,1 1-1 0 0,-1-1 1 0 0,0 1 0 0 0,0 0-1 0 0,-1 1 1 0 0,1-1 0 0 0,0 1-1 0 0,-1-1 1 0 0,1 1-1 0 0,-1 1 1 0 0,1-1 0 0 0,-1 1-1 0 0,1 0 1 0 0,-1 0 0 0 0,1 0-1 0 0,-1 0 1 0 0,1 1-1 0 0,-1 0 1 0 0,1 0 0 0 0,0 0-1 0 0,-1 0 1 0 0,-3 2 0 0 0,-35 15-658 0 0,1 0 0 0 0,1 3 1 0 0,-62 42-1 0 0,77-44 236 0 0,1 2 0 0 0,0 0 0 0 0,1 2 0 0 0,2 1-1 0 0,-38 50 1 0 0,38-40 324 0 0,1 1 0 0 0,1 1 0 0 0,2 1 1 0 0,2 0-1 0 0,-18 63 0 0 0,22-53 361 0 0,1 1 0 0 0,3-1-1 0 0,2 2 1 0 0,0 66 0 0 0,7-84-150 0 0,1-1-1 0 0,1 0 0 0 0,2 0 0 0 0,0 0 1 0 0,3-1-1 0 0,0 0 0 0 0,2 0 1 0 0,1-1-1 0 0,20 36 0 0 0,-21-45-77 0 0,2-1 1 0 0,0 0-1 0 0,1-2 0 0 0,0 1 1 0 0,32 28-1 0 0,-32-34-36 0 0,0-1 1 0 0,1-1-1 0 0,0 0 1 0 0,0 0-1 0 0,1-2 1 0 0,0 0 0 0 0,1 0-1 0 0,20 5 1 0 0,-14-7 0 0 0,0 0 1 0 0,1-1-1 0 0,-1-1 1 0 0,1-1-1 0 0,0-1 1 0 0,30-3-1 0 0,-35 0-26 0 0,0-1 0 0 0,0 0 0 0 0,0-2 0 0 0,-1 0 0 0 0,0-1 0 0 0,0 0 0 0 0,-1-2 0 0 0,25-13 0 0 0,-14 2 5 0 0,-1 0 0 0 0,-1-1 0 0 0,0-2-1 0 0,-2-1 1 0 0,0 0 0 0 0,-2-2 0 0 0,36-52 0 0 0,-28 29 57 0 0,-1-1-1 0 0,-3-2 1 0 0,33-92-1 0 0,-44 97 47 0 0,-2 0 0 0 0,-2 0 0 0 0,-2-1 0 0 0,-3-1 0 0 0,-1 1 0 0 0,-3-1 0 0 0,-5-64 0 0 0,2 91-21 0 0,-1 0 0 0 0,0 0-1 0 0,-2 0 1 0 0,-1 0 0 0 0,0 1-1 0 0,-1 0 1 0 0,-14-26 0 0 0,15 35-123 0 0,-1 0 0 0 0,0 0 1 0 0,-1 1-1 0 0,0 0 0 0 0,0 0 0 0 0,-1 1 0 0 0,0 0 1 0 0,-1 0-1 0 0,0 1 0 0 0,0 1 0 0 0,-1-1 0 0 0,0 2 1 0 0,-17-9-1 0 0,7 6-1018 0 0,0 2 1 0 0,-30-8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5T12:46:58.825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899 505 16583 0 0,'-2'-2'762'0'0,"-41"-39"370"0"0,-60-75 0 0 0,69 76-672 0 0,-5-5-691 0 0,-2 1 0 0 0,-59-48 0 0 0,80 75 62 0 0,-1 2-1 0 0,-1 1 1 0 0,0 0-1 0 0,-1 2 1 0 0,0 0-1 0 0,-1 2 1 0 0,-45-14 0 0 0,61 22 164 0 0,1 1 1 0 0,0-1 0 0 0,-1 2 0 0 0,1-1 0 0 0,-1 1 0 0 0,1 0 0 0 0,-1 0 0 0 0,1 1 0 0 0,0 0-1 0 0,-1 0 1 0 0,-13 5 0 0 0,13-2 10 0 0,0-1 0 0 0,0 2 0 0 0,0-1 0 0 0,0 1 0 0 0,1 0 0 0 0,0 0 0 0 0,0 1 0 0 0,-11 12 0 0 0,5-3-29 0 0,1 1 0 0 0,1 1-1 0 0,0 0 1 0 0,1 0 0 0 0,1 1-1 0 0,1 0 1 0 0,0 1 0 0 0,-6 23-1 0 0,4-3-99 0 0,2 1-1 0 0,1 0 1 0 0,2 0 0 0 0,1 0-1 0 0,4 63 1 0 0,3-56-100 0 0,2 0-1 0 0,2-1 1 0 0,3 0-1 0 0,21 66 1 0 0,-24-93 210 0 0,1-1 1 0 0,0 1-1 0 0,2-1 0 0 0,0-1 1 0 0,1 0-1 0 0,0 0 0 0 0,2-1 1 0 0,17 18-1 0 0,-19-23 50 0 0,1 0 0 0 0,0-1 0 0 0,1 0 0 0 0,0-1 0 0 0,0-1 0 0 0,1 0-1 0 0,0 0 1 0 0,0-2 0 0 0,1 0 0 0 0,0 0 0 0 0,16 3 0 0 0,-9-5 35 0 0,0 0 0 0 0,0-2 0 0 0,0 0 0 0 0,0-1-1 0 0,0-2 1 0 0,0 0 0 0 0,0-1 0 0 0,0-1 0 0 0,0-1-1 0 0,-1-2 1 0 0,1 0 0 0 0,-1-1 0 0 0,-1 0 0 0 0,1-2 0 0 0,-1-1-1 0 0,-1 0 1 0 0,0-2 0 0 0,0 0 0 0 0,-2-1 0 0 0,1 0-1 0 0,18-20 1 0 0,-15 10-80 0 0,0-1 0 0 0,-1-1-1 0 0,-2-1 1 0 0,-1 0-1 0 0,-1-2 1 0 0,-1 0 0 0 0,-1 0-1 0 0,-1-1 1 0 0,-2-1 0 0 0,12-49-1 0 0,-17 45 11 0 0,-2-1-1 0 0,-1 0 0 0 0,-1 0 1 0 0,-2 0-1 0 0,-1 1 0 0 0,-2-1 1 0 0,-2 0-1 0 0,-11-41 0 0 0,12 58 27 0 0,-2 0-1 0 0,0 0 0 0 0,-1 1 0 0 0,-13-23 1 0 0,14 30-83 0 0,0 1 0 0 0,-1-1 0 0 0,0 1 0 0 0,-1 0 0 0 0,0 1 0 0 0,-1-1 0 0 0,1 2 0 0 0,-12-8 0 0 0,-13-5-263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16:35:12.971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41 0 12895 0 0,'-15'24'1152'0'0,"9"-3"-928"0"0,1 6-224 0 0,0 1 0 0 0,0-4 1272 0 0,2 3 200 0 0,3 0 48 0 0,0 0 8 0 0,0 1-1272 0 0,0 2-256 0 0,-2 0 0 0 0,2-1-80 0 0,4-3-1072 0 0,-1 1-208 0 0,-2-1-48 0 0</inkml:trace>
  <inkml:trace contextRef="#ctx0" brushRef="#br0" timeOffset="1">183 1424 12895 0 0,'-5'28'1152'0'0,"0"4"-928"0"0,2 1-224 0 0,3 3 0 0 0,-1-1 824 0 0,2 0 112 0 0,-1 2 24 0 0,0 1 8 0 0,0 2-1712 0 0,2 0-344 0 0,-1-1-72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16:39:22.320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711 1 6447 0 0,'0'0'5632'0'0,"-3"9"-5270"0"0,3-8-356 0 0,-1-1 0 0 0,1 1 0 0 0,-1 0 0 0 0,0 0 0 0 0,0-1 0 0 0,0 1 0 0 0,1 0 0 0 0,-1-1 0 0 0,0 1 0 0 0,0-1 0 0 0,0 1 0 0 0,-2 0 0 0 0,-13 7-6 0 0,11-5 1 0 0,-13 7-3 0 0,0 2 15 0 0,12-7 64 0 0,0 0 0 0 0,0 0 0 0 0,0 0 0 0 0,1 1 0 0 0,0 0 0 0 0,-8 11 0 0 0,-21 42 1060 0 0,8-7-475 0 0,-23 40-249 0 0,12-25-285 0 0,31-54-51 0 0,-11 25-1 0 0,-1 4 86 0 0,-23 51 408 0 0,27-55-396 0 0,-11 25 107 0 0,1-5 233 0 0,-29 111 1 0 0,46-141-452 0 0,-23 102 257 0 0,18-73 59 0 0,-22 67-1 0 0,-6 7-135 0 0,-6 38 5 0 0,31-96 20 0 0,-10 119 0 0 0,9 16 161 0 0,8-104-109 0 0,5-59-198 0 0,2 48 0 0 0,2-13-83 0 0,-4 28 53 0 0,-3 101 168 0 0,3-118-125 0 0,10 95-1 0 0,-2-140-111 0 0,1 22 18 0 0,-3 79 159 0 0,5-20 36 0 0,18 140-13 0 0,1-112 139 0 0,-2-36-155 0 0,1 11-118 0 0,14 38-26 0 0,-2-3 9 0 0,-10-3 224 0 0,15 78-159 0 0,82 369 66 0 0,0-239 13 0 0,-95-291-437 0 0,-19-48-586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0E898-4178-4C49-93F3-FFE86B121A50}" type="datetimeFigureOut">
              <a:rPr lang="en-DE" smtClean="0"/>
              <a:t>07/23/2024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F22EB0-5BFE-45C1-851E-19FF5BCF5F7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8461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F22EB0-5BFE-45C1-851E-19FF5BCF5F72}" type="slidenum">
              <a:rPr lang="en-DE" smtClean="0"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68808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23.07.2024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23.07.2024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23.07.2024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23.07.2024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23.07.2024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23.07.2024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23.07.2024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23.07.2024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23.07.2024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23.07.2024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23.07.2024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23.07.2024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24.png"/><Relationship Id="rId21" Type="http://schemas.openxmlformats.org/officeDocument/2006/relationships/image" Target="../media/image15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8.png"/><Relationship Id="rId7" Type="http://schemas.openxmlformats.org/officeDocument/2006/relationships/image" Target="../media/image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9.png"/><Relationship Id="rId11" Type="http://schemas.openxmlformats.org/officeDocument/2006/relationships/image" Target="../media/image10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23.png"/><Relationship Id="rId40" Type="http://schemas.openxmlformats.org/officeDocument/2006/relationships/customXml" Target="../ink/ink20.xml"/><Relationship Id="rId45" Type="http://schemas.openxmlformats.org/officeDocument/2006/relationships/image" Target="../media/image27.png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23" Type="http://schemas.openxmlformats.org/officeDocument/2006/relationships/image" Target="../media/image16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customXml" Target="../ink/ink25.xml"/><Relationship Id="rId10" Type="http://schemas.openxmlformats.org/officeDocument/2006/relationships/customXml" Target="../ink/ink5.xml"/><Relationship Id="rId19" Type="http://schemas.openxmlformats.org/officeDocument/2006/relationships/image" Target="../media/image14.png"/><Relationship Id="rId31" Type="http://schemas.openxmlformats.org/officeDocument/2006/relationships/image" Target="../media/image20.png"/><Relationship Id="rId44" Type="http://schemas.openxmlformats.org/officeDocument/2006/relationships/customXml" Target="../ink/ink22.xml"/><Relationship Id="rId4" Type="http://schemas.openxmlformats.org/officeDocument/2006/relationships/customXml" Target="../ink/ink2.xml"/><Relationship Id="rId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8.png"/><Relationship Id="rId30" Type="http://schemas.openxmlformats.org/officeDocument/2006/relationships/customXml" Target="../ink/ink15.xml"/><Relationship Id="rId35" Type="http://schemas.openxmlformats.org/officeDocument/2006/relationships/image" Target="../media/image22.png"/><Relationship Id="rId43" Type="http://schemas.openxmlformats.org/officeDocument/2006/relationships/image" Target="../media/image26.png"/><Relationship Id="rId48" Type="http://schemas.openxmlformats.org/officeDocument/2006/relationships/customXml" Target="../ink/ink24.xml"/><Relationship Id="rId8" Type="http://schemas.openxmlformats.org/officeDocument/2006/relationships/customXml" Target="../ink/ink4.xml"/><Relationship Id="rId3" Type="http://schemas.openxmlformats.org/officeDocument/2006/relationships/image" Target="../media/image6.png"/><Relationship Id="rId12" Type="http://schemas.openxmlformats.org/officeDocument/2006/relationships/customXml" Target="../ink/ink6.xml"/><Relationship Id="rId17" Type="http://schemas.openxmlformats.org/officeDocument/2006/relationships/image" Target="../media/image13.png"/><Relationship Id="rId25" Type="http://schemas.openxmlformats.org/officeDocument/2006/relationships/image" Target="../media/image17.png"/><Relationship Id="rId33" Type="http://schemas.openxmlformats.org/officeDocument/2006/relationships/image" Target="../media/image21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20" Type="http://schemas.openxmlformats.org/officeDocument/2006/relationships/customXml" Target="../ink/ink10.xml"/><Relationship Id="rId41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wjZofJX0v4M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9F7D788E-2C1B-4EF4-8719-12613771F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452"/>
          </a:xfrm>
          <a:prstGeom prst="rect">
            <a:avLst/>
          </a:prstGeom>
          <a:solidFill>
            <a:srgbClr val="4040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64949" y="3499076"/>
            <a:ext cx="6053558" cy="24247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Natural Language Processing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7C54E824-C0F4-480B-BC88-689F50C45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199" y="548"/>
            <a:ext cx="4349752" cy="3142889"/>
          </a:xfrm>
          <a:custGeom>
            <a:avLst/>
            <a:gdLst>
              <a:gd name="connsiteX0" fmla="*/ 229420 w 4349752"/>
              <a:gd name="connsiteY0" fmla="*/ 0 h 3142889"/>
              <a:gd name="connsiteX1" fmla="*/ 4120333 w 4349752"/>
              <a:gd name="connsiteY1" fmla="*/ 0 h 3142889"/>
              <a:gd name="connsiteX2" fmla="*/ 4178840 w 4349752"/>
              <a:gd name="connsiteY2" fmla="*/ 121453 h 3142889"/>
              <a:gd name="connsiteX3" fmla="*/ 4349752 w 4349752"/>
              <a:gd name="connsiteY3" fmla="*/ 968013 h 3142889"/>
              <a:gd name="connsiteX4" fmla="*/ 2174876 w 4349752"/>
              <a:gd name="connsiteY4" fmla="*/ 3142889 h 3142889"/>
              <a:gd name="connsiteX5" fmla="*/ 0 w 4349752"/>
              <a:gd name="connsiteY5" fmla="*/ 968013 h 3142889"/>
              <a:gd name="connsiteX6" fmla="*/ 170913 w 4349752"/>
              <a:gd name="connsiteY6" fmla="*/ 121453 h 3142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9752" h="3142889">
                <a:moveTo>
                  <a:pt x="229420" y="0"/>
                </a:moveTo>
                <a:lnTo>
                  <a:pt x="4120333" y="0"/>
                </a:lnTo>
                <a:lnTo>
                  <a:pt x="4178840" y="121453"/>
                </a:lnTo>
                <a:cubicBezTo>
                  <a:pt x="4288894" y="381652"/>
                  <a:pt x="4349752" y="667725"/>
                  <a:pt x="4349752" y="968013"/>
                </a:cubicBezTo>
                <a:cubicBezTo>
                  <a:pt x="4349752" y="2169164"/>
                  <a:pt x="3376027" y="3142889"/>
                  <a:pt x="2174876" y="3142889"/>
                </a:cubicBezTo>
                <a:cubicBezTo>
                  <a:pt x="973725" y="3142889"/>
                  <a:pt x="0" y="2169164"/>
                  <a:pt x="0" y="968013"/>
                </a:cubicBezTo>
                <a:cubicBezTo>
                  <a:pt x="0" y="667725"/>
                  <a:pt x="60858" y="381652"/>
                  <a:pt x="170913" y="12145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58DEA6A1-FC5C-4E6E-BBBF-7E472949B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3759" y="1421356"/>
            <a:ext cx="4538241" cy="5436644"/>
          </a:xfrm>
          <a:custGeom>
            <a:avLst/>
            <a:gdLst>
              <a:gd name="connsiteX0" fmla="*/ 3084645 w 4538241"/>
              <a:gd name="connsiteY0" fmla="*/ 0 h 5436644"/>
              <a:gd name="connsiteX1" fmla="*/ 4285328 w 4538241"/>
              <a:gd name="connsiteY1" fmla="*/ 242407 h 5436644"/>
              <a:gd name="connsiteX2" fmla="*/ 4538241 w 4538241"/>
              <a:gd name="connsiteY2" fmla="*/ 364242 h 5436644"/>
              <a:gd name="connsiteX3" fmla="*/ 4538241 w 4538241"/>
              <a:gd name="connsiteY3" fmla="*/ 5436644 h 5436644"/>
              <a:gd name="connsiteX4" fmla="*/ 1091428 w 4538241"/>
              <a:gd name="connsiteY4" fmla="*/ 5436644 h 5436644"/>
              <a:gd name="connsiteX5" fmla="*/ 903472 w 4538241"/>
              <a:gd name="connsiteY5" fmla="*/ 5265818 h 5436644"/>
              <a:gd name="connsiteX6" fmla="*/ 0 w 4538241"/>
              <a:gd name="connsiteY6" fmla="*/ 3084645 h 5436644"/>
              <a:gd name="connsiteX7" fmla="*/ 3084645 w 4538241"/>
              <a:gd name="connsiteY7" fmla="*/ 0 h 543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8241" h="5436644">
                <a:moveTo>
                  <a:pt x="3084645" y="0"/>
                </a:moveTo>
                <a:cubicBezTo>
                  <a:pt x="3510546" y="0"/>
                  <a:pt x="3916286" y="86315"/>
                  <a:pt x="4285328" y="242407"/>
                </a:cubicBezTo>
                <a:lnTo>
                  <a:pt x="4538241" y="364242"/>
                </a:lnTo>
                <a:lnTo>
                  <a:pt x="4538241" y="5436644"/>
                </a:lnTo>
                <a:lnTo>
                  <a:pt x="1091428" y="5436644"/>
                </a:lnTo>
                <a:lnTo>
                  <a:pt x="903472" y="5265818"/>
                </a:lnTo>
                <a:cubicBezTo>
                  <a:pt x="345261" y="4707608"/>
                  <a:pt x="0" y="3936446"/>
                  <a:pt x="0" y="3084645"/>
                </a:cubicBezTo>
                <a:cubicBezTo>
                  <a:pt x="0" y="1381043"/>
                  <a:pt x="1381043" y="0"/>
                  <a:pt x="308464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96AAAC3B-1954-46B7-BBAC-27DFF5B5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9395" y="0"/>
            <a:ext cx="4023360" cy="2980240"/>
          </a:xfrm>
          <a:custGeom>
            <a:avLst/>
            <a:gdLst>
              <a:gd name="connsiteX0" fmla="*/ 248676 w 4023360"/>
              <a:gd name="connsiteY0" fmla="*/ 0 h 2980240"/>
              <a:gd name="connsiteX1" fmla="*/ 3774684 w 4023360"/>
              <a:gd name="connsiteY1" fmla="*/ 0 h 2980240"/>
              <a:gd name="connsiteX2" fmla="*/ 3780561 w 4023360"/>
              <a:gd name="connsiteY2" fmla="*/ 9674 h 2980240"/>
              <a:gd name="connsiteX3" fmla="*/ 4023360 w 4023360"/>
              <a:gd name="connsiteY3" fmla="*/ 968560 h 2980240"/>
              <a:gd name="connsiteX4" fmla="*/ 2011680 w 4023360"/>
              <a:gd name="connsiteY4" fmla="*/ 2980240 h 2980240"/>
              <a:gd name="connsiteX5" fmla="*/ 0 w 4023360"/>
              <a:gd name="connsiteY5" fmla="*/ 968560 h 2980240"/>
              <a:gd name="connsiteX6" fmla="*/ 242799 w 4023360"/>
              <a:gd name="connsiteY6" fmla="*/ 9674 h 298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23360" h="2980240">
                <a:moveTo>
                  <a:pt x="248676" y="0"/>
                </a:moveTo>
                <a:lnTo>
                  <a:pt x="3774684" y="0"/>
                </a:lnTo>
                <a:lnTo>
                  <a:pt x="3780561" y="9674"/>
                </a:lnTo>
                <a:cubicBezTo>
                  <a:pt x="3935405" y="294716"/>
                  <a:pt x="4023360" y="621366"/>
                  <a:pt x="4023360" y="968560"/>
                </a:cubicBezTo>
                <a:cubicBezTo>
                  <a:pt x="4023360" y="2079580"/>
                  <a:pt x="3122700" y="2980240"/>
                  <a:pt x="2011680" y="2980240"/>
                </a:cubicBezTo>
                <a:cubicBezTo>
                  <a:pt x="900660" y="2980240"/>
                  <a:pt x="0" y="2079580"/>
                  <a:pt x="0" y="968560"/>
                </a:cubicBezTo>
                <a:cubicBezTo>
                  <a:pt x="0" y="621366"/>
                  <a:pt x="87955" y="294716"/>
                  <a:pt x="242799" y="96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4215161" y="356187"/>
            <a:ext cx="2878409" cy="17922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Deep Learning – Machine Learning SS24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A5AD6500-BB62-4AAC-9D2F-C10DDC90C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6897" y="1584494"/>
            <a:ext cx="4375105" cy="5273507"/>
          </a:xfrm>
          <a:custGeom>
            <a:avLst/>
            <a:gdLst>
              <a:gd name="connsiteX0" fmla="*/ 2921508 w 4375105"/>
              <a:gd name="connsiteY0" fmla="*/ 0 h 5273507"/>
              <a:gd name="connsiteX1" fmla="*/ 4314072 w 4375105"/>
              <a:gd name="connsiteY1" fmla="*/ 352611 h 5273507"/>
              <a:gd name="connsiteX2" fmla="*/ 4375105 w 4375105"/>
              <a:gd name="connsiteY2" fmla="*/ 389689 h 5273507"/>
              <a:gd name="connsiteX3" fmla="*/ 4375105 w 4375105"/>
              <a:gd name="connsiteY3" fmla="*/ 5273507 h 5273507"/>
              <a:gd name="connsiteX4" fmla="*/ 1193705 w 4375105"/>
              <a:gd name="connsiteY4" fmla="*/ 5273507 h 5273507"/>
              <a:gd name="connsiteX5" fmla="*/ 1063158 w 4375105"/>
              <a:gd name="connsiteY5" fmla="*/ 5175886 h 5273507"/>
              <a:gd name="connsiteX6" fmla="*/ 0 w 4375105"/>
              <a:gd name="connsiteY6" fmla="*/ 2921508 h 5273507"/>
              <a:gd name="connsiteX7" fmla="*/ 2921508 w 4375105"/>
              <a:gd name="connsiteY7" fmla="*/ 0 h 5273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5105" h="5273507">
                <a:moveTo>
                  <a:pt x="2921508" y="0"/>
                </a:moveTo>
                <a:cubicBezTo>
                  <a:pt x="3425728" y="0"/>
                  <a:pt x="3900114" y="127735"/>
                  <a:pt x="4314072" y="352611"/>
                </a:cubicBezTo>
                <a:lnTo>
                  <a:pt x="4375105" y="389689"/>
                </a:lnTo>
                <a:lnTo>
                  <a:pt x="4375105" y="5273507"/>
                </a:lnTo>
                <a:lnTo>
                  <a:pt x="1193705" y="5273507"/>
                </a:lnTo>
                <a:lnTo>
                  <a:pt x="1063158" y="5175886"/>
                </a:lnTo>
                <a:cubicBezTo>
                  <a:pt x="413861" y="4640038"/>
                  <a:pt x="0" y="3829104"/>
                  <a:pt x="0" y="2921508"/>
                </a:cubicBezTo>
                <a:cubicBezTo>
                  <a:pt x="0" y="1308004"/>
                  <a:pt x="1308004" y="0"/>
                  <a:pt x="292150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3EA9CDE-4B38-EB33-43DC-36E554A563CD}"/>
              </a:ext>
            </a:extLst>
          </p:cNvPr>
          <p:cNvSpPr txBox="1"/>
          <p:nvPr/>
        </p:nvSpPr>
        <p:spPr>
          <a:xfrm>
            <a:off x="8215078" y="2982744"/>
            <a:ext cx="3764906" cy="27804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Sven Heiter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Tom Vollmer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Arthur </a:t>
            </a:r>
            <a:r>
              <a:rPr lang="en-US" sz="2000" err="1"/>
              <a:t>Bartaschewitsch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8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10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12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58FEBA-07B5-DDA1-1425-9ADCD0CF9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791" y="1109805"/>
            <a:ext cx="3665034" cy="24126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br>
              <a:rPr lang="de-DE" sz="3600">
                <a:solidFill>
                  <a:schemeClr val="bg1"/>
                </a:solidFill>
                <a:ea typeface="+mj-lt"/>
                <a:cs typeface="+mj-lt"/>
              </a:rPr>
            </a:br>
            <a:r>
              <a:rPr lang="de-DE" sz="3600">
                <a:solidFill>
                  <a:schemeClr val="bg1"/>
                </a:solidFill>
                <a:ea typeface="+mj-lt"/>
                <a:cs typeface="+mj-lt"/>
              </a:rPr>
              <a:t>Inhaltsverzeichnis</a:t>
            </a:r>
            <a:endParaRPr lang="en-US" sz="3600">
              <a:solidFill>
                <a:schemeClr val="bg1"/>
              </a:solidFill>
              <a:ea typeface="+mj-lt"/>
              <a:cs typeface="+mj-l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4D1404-4903-1242-5524-3989D43F1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3534" y="958994"/>
            <a:ext cx="6299317" cy="5619069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de-DE" dirty="0"/>
              <a:t> Einleitung</a:t>
            </a:r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sz="2200" dirty="0"/>
              <a:t>Was ist NLP?</a:t>
            </a:r>
          </a:p>
          <a:p>
            <a:pPr marL="0" indent="0">
              <a:buNone/>
            </a:pPr>
            <a:r>
              <a:rPr lang="de-DE" sz="2200" dirty="0"/>
              <a:t>	Subfelder des NLP-Gebiets</a:t>
            </a:r>
          </a:p>
          <a:p>
            <a:pPr marL="0" indent="0">
              <a:buNone/>
            </a:pPr>
            <a:r>
              <a:rPr lang="de-DE" sz="2200" dirty="0"/>
              <a:t>	Woraus besteht ChatGPT?</a:t>
            </a:r>
          </a:p>
          <a:p>
            <a:pPr marL="0" indent="0">
              <a:buNone/>
            </a:pPr>
            <a:r>
              <a:rPr lang="de-DE" sz="2200" dirty="0"/>
              <a:t>	Unser Thema: Sentiment Analysis</a:t>
            </a:r>
          </a:p>
          <a:p>
            <a:pPr marL="0" indent="0">
              <a:buNone/>
            </a:pPr>
            <a:r>
              <a:rPr lang="de-DE" dirty="0"/>
              <a:t> Vorverarbeitung</a:t>
            </a:r>
          </a:p>
          <a:p>
            <a:pPr marL="0" indent="0">
              <a:buNone/>
            </a:pPr>
            <a:r>
              <a:rPr lang="de-DE" sz="2200" dirty="0"/>
              <a:t>	Vorstellung: Datensatz</a:t>
            </a:r>
          </a:p>
          <a:p>
            <a:pPr marL="0" indent="0">
              <a:buNone/>
            </a:pPr>
            <a:r>
              <a:rPr lang="de-DE" sz="2200" dirty="0"/>
              <a:t>	Tokenization</a:t>
            </a:r>
          </a:p>
          <a:p>
            <a:pPr marL="0" indent="0">
              <a:buNone/>
            </a:pPr>
            <a:r>
              <a:rPr lang="de-DE" sz="2200" dirty="0"/>
              <a:t>	Embedding</a:t>
            </a:r>
          </a:p>
          <a:p>
            <a:pPr marL="0" indent="0">
              <a:buNone/>
            </a:pPr>
            <a:r>
              <a:rPr lang="en-US" dirty="0"/>
              <a:t> </a:t>
            </a:r>
            <a:r>
              <a:rPr lang="en-US" dirty="0" err="1"/>
              <a:t>Neuronales</a:t>
            </a:r>
            <a:r>
              <a:rPr lang="en-US" dirty="0"/>
              <a:t> </a:t>
            </a:r>
            <a:r>
              <a:rPr lang="en-US" dirty="0" err="1"/>
              <a:t>Netz</a:t>
            </a:r>
            <a:r>
              <a:rPr lang="en-US" dirty="0"/>
              <a:t> </a:t>
            </a:r>
            <a:r>
              <a:rPr lang="en-US" dirty="0" err="1"/>
              <a:t>trainieren</a:t>
            </a:r>
            <a:endParaRPr lang="en-US" dirty="0"/>
          </a:p>
          <a:p>
            <a:pPr marL="0" indent="0">
              <a:buNone/>
            </a:pPr>
            <a:r>
              <a:rPr lang="en-US" sz="2200" dirty="0"/>
              <a:t>	</a:t>
            </a:r>
            <a:r>
              <a:rPr lang="en-US" sz="2200" dirty="0" err="1"/>
              <a:t>Netz-Architektur</a:t>
            </a:r>
            <a:endParaRPr lang="en-US" sz="2200" dirty="0"/>
          </a:p>
          <a:p>
            <a:pPr marL="1657350" lvl="3" indent="-285750">
              <a:buFont typeface="Courier New" panose="02070309020205020404" pitchFamily="49" charset="0"/>
              <a:buChar char="o"/>
            </a:pPr>
            <a:r>
              <a:rPr lang="en-US" dirty="0"/>
              <a:t>Text-Vectorization Layer</a:t>
            </a:r>
          </a:p>
          <a:p>
            <a:pPr marL="1657350" lvl="3" indent="-285750">
              <a:buFont typeface="Courier New" panose="02070309020205020404" pitchFamily="49" charset="0"/>
              <a:buChar char="o"/>
            </a:pPr>
            <a:r>
              <a:rPr lang="en-US" dirty="0"/>
              <a:t>Embedding Layer</a:t>
            </a:r>
          </a:p>
          <a:p>
            <a:pPr marL="1657350" lvl="3" indent="-285750">
              <a:buFont typeface="Courier New" panose="02070309020205020404" pitchFamily="49" charset="0"/>
              <a:buChar char="o"/>
            </a:pPr>
            <a:r>
              <a:rPr lang="en-US" dirty="0"/>
              <a:t>GRU Layer</a:t>
            </a:r>
          </a:p>
          <a:p>
            <a:pPr marL="1657350" lvl="3" indent="-285750">
              <a:buFont typeface="Courier New" panose="02070309020205020404" pitchFamily="49" charset="0"/>
              <a:buChar char="o"/>
            </a:pPr>
            <a:r>
              <a:rPr lang="en-US" dirty="0"/>
              <a:t>Dense Layer</a:t>
            </a:r>
          </a:p>
          <a:p>
            <a:pPr marL="457200" lvl="1" indent="0">
              <a:buNone/>
            </a:pPr>
            <a:r>
              <a:rPr lang="en-US" sz="2200" dirty="0"/>
              <a:t>	</a:t>
            </a:r>
            <a:r>
              <a:rPr lang="en-US" sz="2200" dirty="0" err="1"/>
              <a:t>Trainingsergebnisse</a:t>
            </a:r>
            <a:endParaRPr lang="en-US" sz="2900" dirty="0"/>
          </a:p>
          <a:p>
            <a:pPr marL="0" indent="0">
              <a:buNone/>
            </a:pPr>
            <a:r>
              <a:rPr lang="en-US" dirty="0"/>
              <a:t> ChatGPT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Vergleich</a:t>
            </a:r>
            <a:endParaRPr lang="en-US" dirty="0"/>
          </a:p>
          <a:p>
            <a:pPr marL="0" indent="0">
              <a:buNone/>
            </a:pPr>
            <a:r>
              <a:rPr lang="en-US" sz="2900" dirty="0">
                <a:ea typeface="+mn-lt"/>
                <a:cs typeface="+mn-lt"/>
              </a:rPr>
              <a:t> Where to go from here?</a:t>
            </a:r>
            <a:endParaRPr lang="en-US" dirty="0"/>
          </a:p>
          <a:p>
            <a:endParaRPr lang="de-DE" dirty="0">
              <a:cs typeface="Arial"/>
            </a:endParaRPr>
          </a:p>
          <a:p>
            <a:pPr marL="0" indent="0">
              <a:buNone/>
            </a:pPr>
            <a:endParaRPr lang="de-DE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0677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8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10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12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58FEBA-07B5-DDA1-1425-9ADCD0CF9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93" y="949112"/>
            <a:ext cx="3613198" cy="261999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de-DE" sz="4000">
                <a:solidFill>
                  <a:srgbClr val="FFFFFF"/>
                </a:solidFill>
                <a:ea typeface="+mj-lt"/>
                <a:cs typeface="+mj-lt"/>
              </a:rPr>
              <a:t>Was ist</a:t>
            </a:r>
            <a:br>
              <a:rPr lang="de-DE" sz="4000">
                <a:solidFill>
                  <a:srgbClr val="FFFFFF"/>
                </a:solidFill>
                <a:ea typeface="+mj-lt"/>
                <a:cs typeface="+mj-lt"/>
              </a:rPr>
            </a:br>
            <a:r>
              <a:rPr lang="de-DE" sz="4000">
                <a:solidFill>
                  <a:srgbClr val="FFFFFF"/>
                </a:solidFill>
                <a:ea typeface="+mj-lt"/>
                <a:cs typeface="+mj-lt"/>
              </a:rPr>
              <a:t>Natural Language</a:t>
            </a:r>
            <a:br>
              <a:rPr lang="de-DE" sz="4000">
                <a:ea typeface="+mj-lt"/>
                <a:cs typeface="+mj-lt"/>
              </a:rPr>
            </a:br>
            <a:r>
              <a:rPr lang="de-DE" sz="4000">
                <a:solidFill>
                  <a:srgbClr val="FFFFFF"/>
                </a:solidFill>
                <a:ea typeface="+mj-lt"/>
                <a:cs typeface="+mj-lt"/>
              </a:rPr>
              <a:t>Processing (NLP)?</a:t>
            </a:r>
            <a:endParaRPr lang="en-US" sz="4000">
              <a:solidFill>
                <a:srgbClr val="000000"/>
              </a:solidFill>
              <a:ea typeface="+mj-lt"/>
              <a:cs typeface="+mj-lt"/>
            </a:endParaRPr>
          </a:p>
          <a:p>
            <a:pPr algn="ctr"/>
            <a:endParaRPr lang="en-US" sz="3600" kern="12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4D1404-4903-1242-5524-3989D43F1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2228" y="2872854"/>
            <a:ext cx="7149136" cy="38077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sz="2000">
                <a:solidFill>
                  <a:srgbClr val="000000"/>
                </a:solidFill>
                <a:ea typeface="+mn-lt"/>
                <a:cs typeface="+mn-lt"/>
              </a:rPr>
              <a:t>Interdisziplinares Feld:</a:t>
            </a:r>
          </a:p>
          <a:p>
            <a:pPr lvl="1"/>
            <a:r>
              <a:rPr lang="de-DE" sz="2000">
                <a:solidFill>
                  <a:srgbClr val="000000"/>
                </a:solidFill>
                <a:ea typeface="+mn-lt"/>
                <a:cs typeface="+mn-lt"/>
              </a:rPr>
              <a:t>Speech &amp; Language </a:t>
            </a:r>
            <a:r>
              <a:rPr lang="de-DE" sz="2000" err="1">
                <a:solidFill>
                  <a:srgbClr val="000000"/>
                </a:solidFill>
                <a:ea typeface="+mn-lt"/>
                <a:cs typeface="+mn-lt"/>
              </a:rPr>
              <a:t>processing</a:t>
            </a:r>
            <a:endParaRPr lang="de-DE" sz="2000">
              <a:solidFill>
                <a:srgbClr val="000000"/>
              </a:solidFill>
              <a:ea typeface="+mn-lt"/>
              <a:cs typeface="+mn-lt"/>
            </a:endParaRPr>
          </a:p>
          <a:p>
            <a:pPr lvl="1"/>
            <a:r>
              <a:rPr lang="de-DE" sz="2000">
                <a:solidFill>
                  <a:srgbClr val="000000"/>
                </a:solidFill>
                <a:ea typeface="+mn-lt"/>
                <a:cs typeface="+mn-lt"/>
              </a:rPr>
              <a:t>Human </a:t>
            </a:r>
            <a:r>
              <a:rPr lang="de-DE" sz="2000" err="1">
                <a:solidFill>
                  <a:srgbClr val="000000"/>
                </a:solidFill>
                <a:ea typeface="+mn-lt"/>
                <a:cs typeface="+mn-lt"/>
              </a:rPr>
              <a:t>language</a:t>
            </a:r>
            <a:r>
              <a:rPr lang="de-DE" sz="2000">
                <a:solidFill>
                  <a:srgbClr val="000000"/>
                </a:solidFill>
                <a:ea typeface="+mn-lt"/>
                <a:cs typeface="+mn-lt"/>
              </a:rPr>
              <a:t> Technology</a:t>
            </a:r>
            <a:endParaRPr lang="en-US" sz="2000">
              <a:solidFill>
                <a:srgbClr val="000000"/>
              </a:solidFill>
              <a:ea typeface="+mn-lt"/>
              <a:cs typeface="+mn-lt"/>
            </a:endParaRPr>
          </a:p>
          <a:p>
            <a:pPr lvl="1"/>
            <a:r>
              <a:rPr lang="de-DE" sz="2000">
                <a:solidFill>
                  <a:srgbClr val="000000"/>
                </a:solidFill>
                <a:ea typeface="+mn-lt"/>
                <a:cs typeface="+mn-lt"/>
              </a:rPr>
              <a:t>Computational </a:t>
            </a:r>
            <a:r>
              <a:rPr lang="de-DE" sz="2000" err="1">
                <a:solidFill>
                  <a:srgbClr val="000000"/>
                </a:solidFill>
                <a:ea typeface="+mn-lt"/>
                <a:cs typeface="+mn-lt"/>
              </a:rPr>
              <a:t>linguistics</a:t>
            </a:r>
            <a:endParaRPr lang="de-DE" sz="2000">
              <a:solidFill>
                <a:srgbClr val="000000"/>
              </a:solidFill>
              <a:ea typeface="+mn-lt"/>
              <a:cs typeface="+mn-lt"/>
            </a:endParaRPr>
          </a:p>
          <a:p>
            <a:pPr lvl="1"/>
            <a:r>
              <a:rPr lang="de-DE" sz="2000">
                <a:solidFill>
                  <a:srgbClr val="000000"/>
                </a:solidFill>
                <a:ea typeface="+mn-lt"/>
                <a:cs typeface="+mn-lt"/>
              </a:rPr>
              <a:t>Speech </a:t>
            </a:r>
            <a:r>
              <a:rPr lang="de-DE" sz="2000" err="1">
                <a:solidFill>
                  <a:srgbClr val="000000"/>
                </a:solidFill>
                <a:ea typeface="+mn-lt"/>
                <a:cs typeface="+mn-lt"/>
              </a:rPr>
              <a:t>recognition</a:t>
            </a:r>
            <a:r>
              <a:rPr lang="de-DE" sz="2000">
                <a:solidFill>
                  <a:srgbClr val="000000"/>
                </a:solidFill>
                <a:ea typeface="+mn-lt"/>
                <a:cs typeface="+mn-lt"/>
              </a:rPr>
              <a:t> and </a:t>
            </a:r>
            <a:r>
              <a:rPr lang="de-DE" sz="2000" err="1">
                <a:solidFill>
                  <a:srgbClr val="000000"/>
                </a:solidFill>
                <a:ea typeface="+mn-lt"/>
                <a:cs typeface="+mn-lt"/>
              </a:rPr>
              <a:t>synthesis</a:t>
            </a:r>
            <a:endParaRPr lang="de-DE" sz="2000">
              <a:solidFill>
                <a:srgbClr val="000000"/>
              </a:solidFill>
              <a:ea typeface="+mn-lt"/>
              <a:cs typeface="+mn-lt"/>
            </a:endParaRPr>
          </a:p>
          <a:p>
            <a:pPr lvl="1"/>
            <a:endParaRPr lang="de-DE" sz="20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de-DE" sz="2000">
                <a:solidFill>
                  <a:srgbClr val="000000"/>
                </a:solidFill>
                <a:ea typeface="+mn-lt"/>
                <a:cs typeface="+mn-lt"/>
              </a:rPr>
              <a:t>Ziel:</a:t>
            </a:r>
            <a:endParaRPr lang="en-US" sz="2000">
              <a:solidFill>
                <a:srgbClr val="000000"/>
              </a:solidFill>
              <a:ea typeface="+mn-lt"/>
              <a:cs typeface="+mn-lt"/>
            </a:endParaRPr>
          </a:p>
          <a:p>
            <a:pPr lvl="1"/>
            <a:r>
              <a:rPr lang="de-DE" sz="2000">
                <a:solidFill>
                  <a:srgbClr val="000000"/>
                </a:solidFill>
                <a:ea typeface="+mn-lt"/>
                <a:cs typeface="+mn-lt"/>
              </a:rPr>
              <a:t>Mensch-Maschinen Kommunikation oder Verbesserung dieser</a:t>
            </a:r>
            <a:endParaRPr lang="en-US" sz="2000">
              <a:solidFill>
                <a:srgbClr val="000000"/>
              </a:solidFill>
              <a:ea typeface="+mn-lt"/>
              <a:cs typeface="+mn-lt"/>
            </a:endParaRPr>
          </a:p>
          <a:p>
            <a:pPr lvl="1"/>
            <a:r>
              <a:rPr lang="de-DE" sz="2000">
                <a:solidFill>
                  <a:srgbClr val="000000"/>
                </a:solidFill>
                <a:ea typeface="+mn-lt"/>
                <a:cs typeface="+mn-lt"/>
              </a:rPr>
              <a:t>Verarbeitung von Text und Sprache</a:t>
            </a:r>
            <a:endParaRPr lang="en-US" sz="200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2000">
              <a:cs typeface="Arial"/>
            </a:endParaRPr>
          </a:p>
        </p:txBody>
      </p:sp>
      <p:pic>
        <p:nvPicPr>
          <p:cNvPr id="4" name="Inhaltsplatzhalter 3" descr="&quot;What is Machine Learning&quot; - Jerry Deng: https://digitalscientists.com/blog/what-is-machine-learning-and-is-it-right-for-your-organization/">
            <a:extLst>
              <a:ext uri="{FF2B5EF4-FFF2-40B4-BE49-F238E27FC236}">
                <a16:creationId xmlns:a16="http://schemas.microsoft.com/office/drawing/2014/main" id="{E4CFBB4B-2BAF-1944-8338-F56451C16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931" y="266130"/>
            <a:ext cx="3972257" cy="2709081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26638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8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10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12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58FEBA-07B5-DDA1-1425-9ADCD0CF9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6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Subfelder</a:t>
            </a: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des NLP-</a:t>
            </a:r>
            <a:r>
              <a:rPr lang="en-US" sz="36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Gebiets</a:t>
            </a:r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4D1404-4903-1242-5524-3989D43F1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7192" y="1718310"/>
            <a:ext cx="7175802" cy="42668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Conversational Agent/dialogue systems:</a:t>
            </a:r>
          </a:p>
          <a:p>
            <a:pPr lvl="1"/>
            <a:r>
              <a:rPr lang="en-US" sz="2000"/>
              <a:t>Input: automatic speech recognition &amp;</a:t>
            </a:r>
            <a:br>
              <a:rPr lang="en-US" sz="2000"/>
            </a:br>
            <a:r>
              <a:rPr lang="en-US" sz="2000"/>
              <a:t>natural language understanding</a:t>
            </a:r>
          </a:p>
          <a:p>
            <a:pPr lvl="1"/>
            <a:r>
              <a:rPr lang="en-US" sz="2000"/>
              <a:t>Output: dialogue &amp; response planning, speech synthesis</a:t>
            </a:r>
          </a:p>
          <a:p>
            <a:pPr lvl="1"/>
            <a:endParaRPr lang="en-US" sz="2000"/>
          </a:p>
          <a:p>
            <a:r>
              <a:rPr lang="en-US" sz="2000"/>
              <a:t>Machine Translation - Deepl.com</a:t>
            </a:r>
          </a:p>
          <a:p>
            <a:endParaRPr lang="en-US" sz="2000"/>
          </a:p>
          <a:p>
            <a:r>
              <a:rPr lang="en-US" sz="2000"/>
              <a:t>Question Answering - Weg von </a:t>
            </a:r>
            <a:r>
              <a:rPr lang="en-US" sz="2000" err="1"/>
              <a:t>Googlen</a:t>
            </a:r>
            <a:r>
              <a:rPr lang="en-US" sz="2000"/>
              <a:t>, </a:t>
            </a:r>
            <a:r>
              <a:rPr lang="en-US" sz="2000" err="1"/>
              <a:t>hin</a:t>
            </a:r>
            <a:r>
              <a:rPr lang="en-US" sz="2000"/>
              <a:t> </a:t>
            </a:r>
            <a:r>
              <a:rPr lang="en-US" sz="2000" err="1"/>
              <a:t>zu</a:t>
            </a:r>
            <a:r>
              <a:rPr lang="en-US" sz="2000"/>
              <a:t> Chatbots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FE9C40A-3339-487A-356C-47FEFE202B5E}"/>
              </a:ext>
            </a:extLst>
          </p:cNvPr>
          <p:cNvSpPr txBox="1"/>
          <p:nvPr/>
        </p:nvSpPr>
        <p:spPr>
          <a:xfrm>
            <a:off x="1462755" y="6566381"/>
            <a:ext cx="9594993" cy="36089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/>
              <a:t>"Speech And Language Processing", Daniel </a:t>
            </a:r>
            <a:r>
              <a:rPr lang="en-US" sz="1400" err="1"/>
              <a:t>Jurafsky</a:t>
            </a:r>
            <a:r>
              <a:rPr lang="en-US" sz="1400"/>
              <a:t> &amp; James H. Martin, 2nd Edition </a:t>
            </a:r>
          </a:p>
        </p:txBody>
      </p:sp>
    </p:spTree>
    <p:extLst>
      <p:ext uri="{BB962C8B-B14F-4D97-AF65-F5344CB8AC3E}">
        <p14:creationId xmlns:p14="http://schemas.microsoft.com/office/powerpoint/2010/main" val="15797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8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10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12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58FEBA-07B5-DDA1-1425-9ADCD0CF9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791" y="1109805"/>
            <a:ext cx="3665034" cy="24126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de-DE" sz="3600">
                <a:solidFill>
                  <a:schemeClr val="bg1"/>
                </a:solidFill>
                <a:ea typeface="+mj-lt"/>
                <a:cs typeface="+mj-lt"/>
              </a:rPr>
              <a:t>Woraus besteht </a:t>
            </a:r>
            <a:r>
              <a:rPr lang="de-DE" sz="3600" err="1">
                <a:solidFill>
                  <a:schemeClr val="bg1"/>
                </a:solidFill>
                <a:ea typeface="+mj-lt"/>
                <a:cs typeface="+mj-lt"/>
              </a:rPr>
              <a:t>ChatGPT</a:t>
            </a:r>
            <a:r>
              <a:rPr lang="de-DE" sz="3600">
                <a:solidFill>
                  <a:schemeClr val="bg1"/>
                </a:solidFill>
                <a:ea typeface="+mj-lt"/>
                <a:cs typeface="+mj-lt"/>
              </a:rPr>
              <a:t>?</a:t>
            </a:r>
            <a:endParaRPr lang="en-US" sz="3600">
              <a:solidFill>
                <a:schemeClr val="bg1"/>
              </a:solidFill>
              <a:ea typeface="+mj-lt"/>
              <a:cs typeface="+mj-l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4D1404-4903-1242-5524-3989D43F1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2018" y="1619508"/>
            <a:ext cx="7425702" cy="39834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de-DE" sz="2200" b="1">
                <a:solidFill>
                  <a:srgbClr val="000000"/>
                </a:solidFill>
                <a:ea typeface="+mn-lt"/>
                <a:cs typeface="+mn-lt"/>
              </a:rPr>
              <a:t>G</a:t>
            </a:r>
            <a:r>
              <a:rPr lang="de-DE" sz="2200">
                <a:solidFill>
                  <a:srgbClr val="000000"/>
                </a:solidFill>
                <a:ea typeface="+mn-lt"/>
                <a:cs typeface="+mn-lt"/>
              </a:rPr>
              <a:t>enerative </a:t>
            </a:r>
            <a:r>
              <a:rPr lang="de-DE" sz="2200" b="1">
                <a:solidFill>
                  <a:srgbClr val="000000"/>
                </a:solidFill>
                <a:ea typeface="+mn-lt"/>
                <a:cs typeface="+mn-lt"/>
              </a:rPr>
              <a:t>P</a:t>
            </a:r>
            <a:r>
              <a:rPr lang="de-DE" sz="2200">
                <a:solidFill>
                  <a:srgbClr val="000000"/>
                </a:solidFill>
                <a:ea typeface="+mn-lt"/>
                <a:cs typeface="+mn-lt"/>
              </a:rPr>
              <a:t>re-Trained </a:t>
            </a:r>
            <a:r>
              <a:rPr lang="de-DE" sz="2200" b="1">
                <a:solidFill>
                  <a:srgbClr val="000000"/>
                </a:solidFill>
                <a:ea typeface="+mn-lt"/>
                <a:cs typeface="+mn-lt"/>
              </a:rPr>
              <a:t>T</a:t>
            </a:r>
            <a:r>
              <a:rPr lang="de-DE" sz="2200">
                <a:solidFill>
                  <a:srgbClr val="000000"/>
                </a:solidFill>
                <a:ea typeface="+mn-lt"/>
                <a:cs typeface="+mn-lt"/>
              </a:rPr>
              <a:t>ransformer</a:t>
            </a:r>
            <a:endParaRPr lang="en-US" sz="2200">
              <a:ea typeface="+mn-lt"/>
              <a:cs typeface="+mn-lt"/>
            </a:endParaRPr>
          </a:p>
          <a:p>
            <a:endParaRPr lang="de-DE" sz="2000">
              <a:ea typeface="+mn-lt"/>
              <a:cs typeface="+mn-lt"/>
            </a:endParaRPr>
          </a:p>
          <a:p>
            <a:r>
              <a:rPr lang="de-DE" sz="2000" b="1">
                <a:solidFill>
                  <a:srgbClr val="000000"/>
                </a:solidFill>
                <a:ea typeface="+mn-lt"/>
                <a:cs typeface="+mn-lt"/>
              </a:rPr>
              <a:t>G</a:t>
            </a:r>
            <a:r>
              <a:rPr lang="de-DE" sz="2000">
                <a:solidFill>
                  <a:srgbClr val="000000"/>
                </a:solidFill>
                <a:ea typeface="+mn-lt"/>
                <a:cs typeface="+mn-lt"/>
              </a:rPr>
              <a:t>enerative:</a:t>
            </a:r>
            <a:endParaRPr lang="en-US" sz="2000">
              <a:solidFill>
                <a:srgbClr val="000000"/>
              </a:solidFill>
              <a:ea typeface="+mn-lt"/>
              <a:cs typeface="+mn-lt"/>
            </a:endParaRPr>
          </a:p>
          <a:p>
            <a:pPr lvl="1"/>
            <a:r>
              <a:rPr lang="de-DE" sz="1600">
                <a:solidFill>
                  <a:srgbClr val="000000"/>
                </a:solidFill>
                <a:ea typeface="+mn-lt"/>
                <a:cs typeface="+mn-lt"/>
              </a:rPr>
              <a:t>Fähig, neuen Inhalt zu generieren</a:t>
            </a:r>
            <a:endParaRPr lang="en-US" sz="1600">
              <a:ea typeface="+mn-lt"/>
              <a:cs typeface="+mn-lt"/>
            </a:endParaRPr>
          </a:p>
          <a:p>
            <a:r>
              <a:rPr lang="de-DE" sz="2000" b="1">
                <a:solidFill>
                  <a:srgbClr val="000000"/>
                </a:solidFill>
                <a:ea typeface="+mn-lt"/>
                <a:cs typeface="+mn-lt"/>
              </a:rPr>
              <a:t>P</a:t>
            </a:r>
            <a:r>
              <a:rPr lang="de-DE" sz="2000">
                <a:solidFill>
                  <a:srgbClr val="000000"/>
                </a:solidFill>
                <a:ea typeface="+mn-lt"/>
                <a:cs typeface="+mn-lt"/>
              </a:rPr>
              <a:t>re-Trained:</a:t>
            </a:r>
            <a:endParaRPr lang="en-US" sz="2000">
              <a:ea typeface="+mn-lt"/>
              <a:cs typeface="+mn-lt"/>
            </a:endParaRPr>
          </a:p>
          <a:p>
            <a:pPr lvl="1"/>
            <a:r>
              <a:rPr lang="de-DE" sz="1600">
                <a:solidFill>
                  <a:srgbClr val="000000"/>
                </a:solidFill>
                <a:ea typeface="+mn-lt"/>
                <a:cs typeface="+mn-lt"/>
              </a:rPr>
              <a:t>Wurde an einer großen Menge an Daten trainiert </a:t>
            </a:r>
          </a:p>
          <a:p>
            <a:pPr lvl="1"/>
            <a:r>
              <a:rPr lang="de-DE" sz="1600">
                <a:solidFill>
                  <a:srgbClr val="000000"/>
                </a:solidFill>
                <a:ea typeface="+mn-lt"/>
                <a:cs typeface="+mn-lt"/>
              </a:rPr>
              <a:t>Kann für spezifische Aufgaben fein abgestimmt werden</a:t>
            </a: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de-DE" sz="2000" b="1">
                <a:solidFill>
                  <a:srgbClr val="000000"/>
                </a:solidFill>
                <a:ea typeface="+mn-lt"/>
                <a:cs typeface="+mn-lt"/>
              </a:rPr>
              <a:t>T</a:t>
            </a:r>
            <a:r>
              <a:rPr lang="de-DE" sz="2000">
                <a:solidFill>
                  <a:srgbClr val="000000"/>
                </a:solidFill>
                <a:ea typeface="+mn-lt"/>
                <a:cs typeface="+mn-lt"/>
              </a:rPr>
              <a:t>ransformer: </a:t>
            </a:r>
          </a:p>
          <a:p>
            <a:pPr lvl="1"/>
            <a:r>
              <a:rPr lang="de-DE" sz="1600">
                <a:solidFill>
                  <a:srgbClr val="000000"/>
                </a:solidFill>
                <a:ea typeface="+mn-lt"/>
                <a:cs typeface="+mn-lt"/>
              </a:rPr>
              <a:t>Ein Neural Network in der Transformer-Architektur</a:t>
            </a: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pPr lvl="1"/>
            <a:r>
              <a:rPr lang="de-DE" sz="1600">
                <a:solidFill>
                  <a:srgbClr val="000000"/>
                </a:solidFill>
                <a:ea typeface="+mn-lt"/>
                <a:cs typeface="+mn-lt"/>
              </a:rPr>
              <a:t>Nutzt Self-Attention-Mechanismen, um Kontextinformationen zu erfassen</a:t>
            </a: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pPr lvl="1"/>
            <a:r>
              <a:rPr lang="de-DE" sz="1600">
                <a:solidFill>
                  <a:srgbClr val="000000"/>
                </a:solidFill>
                <a:ea typeface="+mn-lt"/>
                <a:cs typeface="+mn-lt"/>
              </a:rPr>
              <a:t>Ermöglicht Erkennung langer Abhängigkeiten zwischen Wörtern</a:t>
            </a: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endParaRPr lang="de-DE" sz="2000"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9CC4F-B1D9-149B-03D4-5078C2C3CA26}"/>
              </a:ext>
            </a:extLst>
          </p:cNvPr>
          <p:cNvSpPr txBox="1"/>
          <p:nvPr/>
        </p:nvSpPr>
        <p:spPr>
          <a:xfrm>
            <a:off x="6639840" y="340659"/>
            <a:ext cx="32500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>
                <a:solidFill>
                  <a:srgbClr val="000000"/>
                </a:solidFill>
                <a:ea typeface="+mn-lt"/>
                <a:cs typeface="+mn-lt"/>
              </a:rPr>
              <a:t>Wofür steht GPT?</a:t>
            </a:r>
            <a:endParaRPr lang="en-DE" sz="3200"/>
          </a:p>
        </p:txBody>
      </p:sp>
    </p:spTree>
    <p:extLst>
      <p:ext uri="{BB962C8B-B14F-4D97-AF65-F5344CB8AC3E}">
        <p14:creationId xmlns:p14="http://schemas.microsoft.com/office/powerpoint/2010/main" val="159647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8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10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12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58FEBA-07B5-DDA1-1425-9ADCD0CF9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791" y="1109805"/>
            <a:ext cx="3665034" cy="24126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de-DE" sz="3600">
                <a:solidFill>
                  <a:schemeClr val="bg1"/>
                </a:solidFill>
                <a:ea typeface="+mj-lt"/>
                <a:cs typeface="+mj-lt"/>
              </a:rPr>
              <a:t>Woraus besteht </a:t>
            </a:r>
            <a:r>
              <a:rPr lang="de-DE" sz="3600" err="1">
                <a:solidFill>
                  <a:schemeClr val="bg1"/>
                </a:solidFill>
                <a:ea typeface="+mj-lt"/>
                <a:cs typeface="+mj-lt"/>
              </a:rPr>
              <a:t>ChatGPT</a:t>
            </a:r>
            <a:r>
              <a:rPr lang="de-DE" sz="3600">
                <a:solidFill>
                  <a:schemeClr val="bg1"/>
                </a:solidFill>
                <a:ea typeface="+mj-lt"/>
                <a:cs typeface="+mj-lt"/>
              </a:rPr>
              <a:t>?</a:t>
            </a:r>
            <a:endParaRPr lang="en-US" sz="3600">
              <a:solidFill>
                <a:schemeClr val="bg1"/>
              </a:solidFill>
              <a:ea typeface="+mj-lt"/>
              <a:cs typeface="+mj-l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4D1404-4903-1242-5524-3989D43F1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3536" y="1842188"/>
            <a:ext cx="7646259" cy="33605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sz="1800"/>
              <a:t>Text Input wird in Tokens aufgeteilt und dann eingebettet (Embeddings)</a:t>
            </a:r>
          </a:p>
          <a:p>
            <a:pPr lvl="1"/>
            <a:r>
              <a:rPr lang="de-DE" sz="1800"/>
              <a:t>Representiert die Bedeutung der Tokens in der Form eines Vektors</a:t>
            </a:r>
          </a:p>
          <a:p>
            <a:pPr marL="0" indent="0">
              <a:buNone/>
            </a:pPr>
            <a:endParaRPr lang="de-DE" sz="1800" b="1"/>
          </a:p>
          <a:p>
            <a:r>
              <a:rPr lang="de-DE" sz="1800"/>
              <a:t>Transformer Architecture: </a:t>
            </a:r>
          </a:p>
          <a:p>
            <a:pPr lvl="1"/>
            <a:r>
              <a:rPr lang="de-DE" sz="1800"/>
              <a:t>Self-attention</a:t>
            </a:r>
          </a:p>
          <a:p>
            <a:pPr lvl="1"/>
            <a:r>
              <a:rPr lang="de-DE" sz="1800"/>
              <a:t>Feedforward Layers</a:t>
            </a:r>
          </a:p>
          <a:p>
            <a:pPr lvl="1"/>
            <a:r>
              <a:rPr lang="de-DE" sz="1800"/>
              <a:t>Residual Verbindungen und Normalisierung	</a:t>
            </a:r>
          </a:p>
          <a:p>
            <a:r>
              <a:rPr lang="de-DE" sz="1800"/>
              <a:t>Sprachgenerierung:</a:t>
            </a:r>
          </a:p>
          <a:p>
            <a:pPr lvl="1"/>
            <a:r>
              <a:rPr lang="de-DE" sz="1800"/>
              <a:t>Wahrscheinlichkeitsverteilung</a:t>
            </a:r>
            <a:endParaRPr lang="de-DE" sz="20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442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BD09AFB-7029-C3D1-7CFB-D4A69C1A67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55496" y="-399175"/>
            <a:ext cx="12702989" cy="235771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9D222B-9DB5-9930-060C-7EDCD9938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37311" y="-1283855"/>
            <a:ext cx="13466618" cy="31094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8BBD9-4B89-AD49-9EAC-ED8B601C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148" y="194656"/>
            <a:ext cx="10515600" cy="1325563"/>
          </a:xfrm>
        </p:spPr>
        <p:txBody>
          <a:bodyPr/>
          <a:lstStyle/>
          <a:p>
            <a:pPr algn="ctr"/>
            <a:r>
              <a:rPr lang="en-DE" sz="3600">
                <a:solidFill>
                  <a:schemeClr val="bg1"/>
                </a:solidFill>
              </a:rPr>
              <a:t>Unser Thema:</a:t>
            </a:r>
            <a:br>
              <a:rPr lang="en-DE"/>
            </a:br>
            <a:r>
              <a:rPr lang="en-US" sz="4800">
                <a:solidFill>
                  <a:schemeClr val="bg1"/>
                </a:solidFill>
              </a:rPr>
              <a:t>Sentiment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60708-0878-3722-246E-7F79C843F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4364"/>
            <a:ext cx="10515600" cy="40525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 rtl="0">
              <a:buNone/>
            </a:pP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</a:rPr>
              <a:t>Definition:</a:t>
            </a:r>
            <a:r>
              <a:rPr lang="en-US" sz="2400" b="0" i="0">
                <a:latin typeface="Aptos"/>
              </a:rPr>
              <a:t>​</a:t>
            </a:r>
          </a:p>
          <a:p>
            <a:pPr lvl="1"/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</a:rPr>
              <a:t>"Die 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</a:rPr>
              <a:t>Klassifizierung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</a:rPr>
              <a:t> der 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</a:rPr>
              <a:t>Polarität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</a:rPr>
              <a:t> 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</a:rPr>
              <a:t>eines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</a:rPr>
              <a:t> 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</a:rPr>
              <a:t>bestimmten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</a:rPr>
              <a:t> 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</a:rPr>
              <a:t>Textes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</a:rPr>
              <a:t>, 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</a:rPr>
              <a:t>bspw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</a:rPr>
              <a:t>. In 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</a:rPr>
              <a:t>Kategorien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</a:rPr>
              <a:t> 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</a:rPr>
              <a:t>wie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</a:rPr>
              <a:t> '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</a:rPr>
              <a:t>positiv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</a:rPr>
              <a:t>', '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</a:rPr>
              <a:t>negativ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</a:rPr>
              <a:t>' 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</a:rPr>
              <a:t>oder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</a:rPr>
              <a:t> 'neutral', um 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</a:rPr>
              <a:t>Stimmungen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</a:rPr>
              <a:t> 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</a:rPr>
              <a:t>vorherzusagen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</a:rPr>
              <a:t>." </a:t>
            </a:r>
            <a:r>
              <a:rPr lang="en-US" sz="1600" b="0" i="0">
                <a:latin typeface="Aptos"/>
              </a:rPr>
              <a:t>​</a:t>
            </a:r>
            <a:br>
              <a:rPr lang="en-US" sz="700" b="0" i="0">
                <a:latin typeface="Aptos"/>
              </a:rPr>
            </a:br>
            <a:r>
              <a:rPr lang="en-US" sz="1200" b="0" i="0" u="none" strike="noStrike" baseline="0">
                <a:solidFill>
                  <a:srgbClr val="000000"/>
                </a:solidFill>
                <a:latin typeface="Aptos"/>
              </a:rPr>
              <a:t>Sentiment Analysis, </a:t>
            </a:r>
            <a:r>
              <a:rPr lang="en-US" sz="1200" b="0" i="0" u="none" strike="noStrike" baseline="0" err="1">
                <a:solidFill>
                  <a:srgbClr val="000000"/>
                </a:solidFill>
                <a:latin typeface="Aptos"/>
              </a:rPr>
              <a:t>PapersWithCode</a:t>
            </a:r>
            <a:r>
              <a:rPr lang="en-US" sz="1200" b="0" i="0" u="none" strike="noStrike" baseline="0">
                <a:solidFill>
                  <a:srgbClr val="000000"/>
                </a:solidFill>
                <a:latin typeface="Aptos"/>
              </a:rPr>
              <a:t>:</a:t>
            </a:r>
            <a:br>
              <a:rPr lang="en-US" sz="1200">
                <a:solidFill>
                  <a:srgbClr val="000000"/>
                </a:solidFill>
                <a:latin typeface="Aptos"/>
              </a:rPr>
            </a:br>
            <a:r>
              <a:rPr lang="en-US" sz="1200" b="0" i="0" u="none" strike="noStrike" baseline="0">
                <a:solidFill>
                  <a:srgbClr val="000000"/>
                </a:solidFill>
                <a:latin typeface="Aptos"/>
              </a:rPr>
              <a:t>https://paperswithcode.com/task/sentiment-analysis (</a:t>
            </a:r>
            <a:r>
              <a:rPr lang="en-US" sz="1200" b="0" i="0" u="none" strike="noStrike" baseline="0" err="1">
                <a:solidFill>
                  <a:srgbClr val="000000"/>
                </a:solidFill>
                <a:latin typeface="Aptos"/>
              </a:rPr>
              <a:t>übersetzt</a:t>
            </a:r>
            <a:r>
              <a:rPr lang="en-US" sz="1200" b="0" i="0" u="none" strike="noStrike" baseline="0">
                <a:solidFill>
                  <a:srgbClr val="000000"/>
                </a:solidFill>
                <a:latin typeface="Aptos"/>
              </a:rPr>
              <a:t>)</a:t>
            </a:r>
            <a:r>
              <a:rPr lang="en-US" sz="1200" b="0" i="0">
                <a:latin typeface="Aptos"/>
              </a:rPr>
              <a:t>​</a:t>
            </a:r>
            <a:endParaRPr lang="en-US" sz="700">
              <a:latin typeface="Aptos"/>
            </a:endParaRPr>
          </a:p>
          <a:p>
            <a:pPr marL="457200" lvl="1" indent="0">
              <a:buNone/>
            </a:pPr>
            <a:endParaRPr lang="en-US" sz="2000" b="0" i="0">
              <a:latin typeface="Aptos"/>
            </a:endParaRPr>
          </a:p>
          <a:p>
            <a:pPr marL="0" indent="0" algn="l" rtl="0">
              <a:buNone/>
            </a:pP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</a:rPr>
              <a:t>Ziel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</a:rPr>
              <a:t> </a:t>
            </a: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</a:rPr>
              <a:t>dieser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</a:rPr>
              <a:t> Arbeit: </a:t>
            </a:r>
            <a:r>
              <a:rPr lang="en-US" sz="2400" b="0" i="0">
                <a:latin typeface="Aptos"/>
              </a:rPr>
              <a:t>​</a:t>
            </a:r>
          </a:p>
          <a:p>
            <a:pPr lvl="1"/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</a:rPr>
              <a:t>IMDb 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</a:rPr>
              <a:t>Filmrezensionen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</a:rPr>
              <a:t> 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</a:rPr>
              <a:t>positiv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</a:rPr>
              <a:t>/</a:t>
            </a:r>
            <a:r>
              <a:rPr lang="en-US" sz="1600" err="1">
                <a:solidFill>
                  <a:srgbClr val="000000"/>
                </a:solidFill>
                <a:latin typeface="Aptos"/>
              </a:rPr>
              <a:t>negativ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</a:rPr>
              <a:t> 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</a:rPr>
              <a:t>klassifizieren</a:t>
            </a:r>
            <a:r>
              <a:rPr lang="en-US" sz="1100" b="0" i="0">
                <a:latin typeface="Aptos"/>
              </a:rPr>
              <a:t>​</a:t>
            </a:r>
          </a:p>
          <a:p>
            <a:pPr marL="228600" lvl="0" indent="-228600" algn="l" rtl="0">
              <a:buFont typeface="Arial,Sans-Serif"/>
              <a:buChar char="•"/>
            </a:pPr>
            <a:endParaRPr lang="en-US" sz="1500" b="0" i="0">
              <a:latin typeface="Aptos"/>
              <a:ea typeface="Arial"/>
              <a:cs typeface="Arial"/>
            </a:endParaRPr>
          </a:p>
          <a:p>
            <a:pPr marL="0" indent="0" algn="l" rtl="0">
              <a:buNone/>
            </a:pP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</a:rPr>
              <a:t>Ziel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</a:rPr>
              <a:t> dieses </a:t>
            </a:r>
            <a:r>
              <a:rPr lang="en-US" sz="2400" b="0" i="0" u="none" strike="noStrike" baseline="0" err="1">
                <a:solidFill>
                  <a:srgbClr val="000000"/>
                </a:solidFill>
                <a:latin typeface="Aptos"/>
              </a:rPr>
              <a:t>Vortrags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</a:rPr>
              <a:t>:</a:t>
            </a:r>
            <a:r>
              <a:rPr lang="en-US" sz="2400" b="0" i="0">
                <a:latin typeface="Aptos"/>
              </a:rPr>
              <a:t>​</a:t>
            </a:r>
          </a:p>
          <a:p>
            <a:pPr marL="685800" lvl="2">
              <a:buFont typeface="Arial,Sans-Serif"/>
              <a:buChar char="•"/>
            </a:pP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Übersicht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über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die NLP-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Domäne</a:t>
            </a:r>
            <a:r>
              <a:rPr lang="en-US" sz="1600" b="0" i="0">
                <a:latin typeface="Aptos"/>
                <a:ea typeface="Arial"/>
                <a:cs typeface="Arial"/>
              </a:rPr>
              <a:t>​</a:t>
            </a:r>
          </a:p>
          <a:p>
            <a:pPr marL="685800" lvl="2">
              <a:buFont typeface="Arial,Sans-Serif"/>
              <a:buChar char="•"/>
            </a:pP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High-Level 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Erläuterung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der 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Konzepte</a:t>
            </a:r>
            <a:r>
              <a:rPr lang="en-US" sz="1600" b="0" i="0">
                <a:latin typeface="Aptos"/>
                <a:ea typeface="Arial"/>
                <a:cs typeface="Arial"/>
              </a:rPr>
              <a:t>​</a:t>
            </a:r>
          </a:p>
          <a:p>
            <a:pPr marL="685800" lvl="2">
              <a:buFont typeface="Arial,Sans-Serif"/>
              <a:buChar char="•"/>
            </a:pP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Handreichung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zur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weiteren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Vertiefung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r>
              <a:rPr lang="en-US" sz="16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jener</a:t>
            </a:r>
            <a:r>
              <a:rPr lang="en-US" sz="1600" b="0" i="0">
                <a:latin typeface="Aptos"/>
                <a:ea typeface="Arial"/>
                <a:cs typeface="Arial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202560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8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10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12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58FEBA-07B5-DDA1-1425-9ADCD0CF9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791" y="1109805"/>
            <a:ext cx="3665034" cy="24126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br>
              <a:rPr lang="de-DE" sz="3600">
                <a:solidFill>
                  <a:schemeClr val="bg1"/>
                </a:solidFill>
                <a:ea typeface="+mj-lt"/>
                <a:cs typeface="+mj-lt"/>
              </a:rPr>
            </a:br>
            <a:r>
              <a:rPr lang="de-DE" sz="3600">
                <a:solidFill>
                  <a:schemeClr val="bg1"/>
                </a:solidFill>
                <a:ea typeface="+mj-lt"/>
                <a:cs typeface="+mj-lt"/>
              </a:rPr>
              <a:t>Inhaltsverzeichnis</a:t>
            </a:r>
            <a:endParaRPr lang="en-US" sz="3600">
              <a:solidFill>
                <a:schemeClr val="bg1"/>
              </a:solidFill>
              <a:ea typeface="+mj-lt"/>
              <a:cs typeface="+mj-l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4D1404-4903-1242-5524-3989D43F1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3534" y="958994"/>
            <a:ext cx="6299317" cy="5619069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de-DE" dirty="0"/>
              <a:t> Einleitung</a:t>
            </a:r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sz="2200" dirty="0"/>
              <a:t>Was ist NLP?</a:t>
            </a:r>
          </a:p>
          <a:p>
            <a:pPr marL="0" indent="0">
              <a:buNone/>
            </a:pPr>
            <a:r>
              <a:rPr lang="de-DE" sz="2200" dirty="0"/>
              <a:t>	Subfelder des NLP-Gebiets</a:t>
            </a:r>
          </a:p>
          <a:p>
            <a:pPr marL="0" indent="0">
              <a:buNone/>
            </a:pPr>
            <a:r>
              <a:rPr lang="de-DE" sz="2200" dirty="0"/>
              <a:t>	Woraus besteht ChatGPT?</a:t>
            </a:r>
          </a:p>
          <a:p>
            <a:pPr marL="0" indent="0">
              <a:buNone/>
            </a:pPr>
            <a:r>
              <a:rPr lang="de-DE" sz="2200" dirty="0"/>
              <a:t>	Unser Thema: Sentiment Analysis</a:t>
            </a:r>
          </a:p>
          <a:p>
            <a:pPr marL="0" indent="0">
              <a:buNone/>
            </a:pPr>
            <a:r>
              <a:rPr lang="de-DE" dirty="0"/>
              <a:t> </a:t>
            </a:r>
            <a:r>
              <a:rPr lang="de-DE" dirty="0">
                <a:solidFill>
                  <a:srgbClr val="FF0000"/>
                </a:solidFill>
              </a:rPr>
              <a:t>Vorverarbeitung</a:t>
            </a:r>
          </a:p>
          <a:p>
            <a:pPr marL="0" indent="0">
              <a:buNone/>
            </a:pPr>
            <a:r>
              <a:rPr lang="de-DE" sz="2200" dirty="0"/>
              <a:t>	Vorstellung: Datensatz</a:t>
            </a:r>
          </a:p>
          <a:p>
            <a:pPr marL="0" indent="0">
              <a:buNone/>
            </a:pPr>
            <a:r>
              <a:rPr lang="de-DE" sz="2200" dirty="0"/>
              <a:t>	Tokenization</a:t>
            </a:r>
          </a:p>
          <a:p>
            <a:pPr marL="0" indent="0">
              <a:buNone/>
            </a:pPr>
            <a:r>
              <a:rPr lang="de-DE" sz="2200" dirty="0"/>
              <a:t>	Embedding</a:t>
            </a:r>
          </a:p>
          <a:p>
            <a:pPr marL="0" indent="0">
              <a:buNone/>
            </a:pPr>
            <a:r>
              <a:rPr lang="en-US" dirty="0"/>
              <a:t> </a:t>
            </a:r>
            <a:r>
              <a:rPr lang="en-US" dirty="0" err="1"/>
              <a:t>Neuronales</a:t>
            </a:r>
            <a:r>
              <a:rPr lang="en-US" dirty="0"/>
              <a:t> </a:t>
            </a:r>
            <a:r>
              <a:rPr lang="en-US" dirty="0" err="1"/>
              <a:t>Netz</a:t>
            </a:r>
            <a:r>
              <a:rPr lang="en-US" dirty="0"/>
              <a:t> </a:t>
            </a:r>
            <a:r>
              <a:rPr lang="en-US" dirty="0" err="1"/>
              <a:t>trainieren</a:t>
            </a:r>
            <a:endParaRPr lang="en-US" dirty="0"/>
          </a:p>
          <a:p>
            <a:pPr marL="0" indent="0">
              <a:buNone/>
            </a:pPr>
            <a:r>
              <a:rPr lang="en-US" sz="2200" dirty="0"/>
              <a:t>	</a:t>
            </a:r>
            <a:r>
              <a:rPr lang="en-US" sz="2200" dirty="0" err="1"/>
              <a:t>Netz-Architektur</a:t>
            </a:r>
            <a:endParaRPr lang="en-US" sz="2200" dirty="0"/>
          </a:p>
          <a:p>
            <a:pPr marL="1657350" lvl="3" indent="-285750">
              <a:buFont typeface="Courier New" panose="02070309020205020404" pitchFamily="49" charset="0"/>
              <a:buChar char="o"/>
            </a:pPr>
            <a:r>
              <a:rPr lang="en-US" dirty="0"/>
              <a:t>Text-Vectorization Layer</a:t>
            </a:r>
          </a:p>
          <a:p>
            <a:pPr marL="1657350" lvl="3" indent="-285750">
              <a:buFont typeface="Courier New" panose="02070309020205020404" pitchFamily="49" charset="0"/>
              <a:buChar char="o"/>
            </a:pPr>
            <a:r>
              <a:rPr lang="en-US" dirty="0"/>
              <a:t>Embedding Layer</a:t>
            </a:r>
          </a:p>
          <a:p>
            <a:pPr marL="1657350" lvl="3" indent="-285750">
              <a:buFont typeface="Courier New" panose="02070309020205020404" pitchFamily="49" charset="0"/>
              <a:buChar char="o"/>
            </a:pPr>
            <a:r>
              <a:rPr lang="en-US" dirty="0"/>
              <a:t>GRU Layer</a:t>
            </a:r>
          </a:p>
          <a:p>
            <a:pPr marL="1657350" lvl="3" indent="-285750">
              <a:buFont typeface="Courier New" panose="02070309020205020404" pitchFamily="49" charset="0"/>
              <a:buChar char="o"/>
            </a:pPr>
            <a:r>
              <a:rPr lang="en-US" dirty="0"/>
              <a:t>Dense Layer</a:t>
            </a:r>
          </a:p>
          <a:p>
            <a:pPr marL="457200" lvl="1" indent="0">
              <a:buNone/>
            </a:pPr>
            <a:r>
              <a:rPr lang="en-US" sz="2200" dirty="0"/>
              <a:t>	</a:t>
            </a:r>
            <a:r>
              <a:rPr lang="en-US" sz="2200" dirty="0" err="1"/>
              <a:t>Trainingsergebnisse</a:t>
            </a:r>
            <a:endParaRPr lang="en-US" sz="2200" dirty="0"/>
          </a:p>
          <a:p>
            <a:pPr marL="0" indent="0">
              <a:buNone/>
            </a:pPr>
            <a:r>
              <a:rPr lang="en-US" dirty="0"/>
              <a:t> ChatGPT 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Vergleich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 Where to go from here?</a:t>
            </a:r>
            <a:endParaRPr lang="en-US" dirty="0"/>
          </a:p>
          <a:p>
            <a:endParaRPr lang="de-DE" dirty="0">
              <a:cs typeface="Arial"/>
            </a:endParaRPr>
          </a:p>
          <a:p>
            <a:pPr marL="0" indent="0">
              <a:buNone/>
            </a:pPr>
            <a:endParaRPr lang="de-DE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9969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BD09AFB-7029-C3D1-7CFB-D4A69C1A67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55496" y="-399175"/>
            <a:ext cx="12702989" cy="235771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9D222B-9DB5-9930-060C-7EDCD9938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37311" y="-1283855"/>
            <a:ext cx="13466618" cy="31094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8BBD9-4B89-AD49-9EAC-ED8B601C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964" y="116901"/>
            <a:ext cx="10515600" cy="1325563"/>
          </a:xfrm>
        </p:spPr>
        <p:txBody>
          <a:bodyPr/>
          <a:lstStyle/>
          <a:p>
            <a:pPr algn="ctr"/>
            <a:r>
              <a:rPr lang="de-DE">
                <a:solidFill>
                  <a:schemeClr val="bg1"/>
                </a:solidFill>
              </a:rPr>
              <a:t>Vorverarbeitung – Der Datensatz</a:t>
            </a:r>
            <a:endParaRPr lang="en-DE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60708-0878-3722-246E-7F79C843F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4364"/>
            <a:ext cx="10515600" cy="4331854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de-DE" err="1"/>
              <a:t>IMDb</a:t>
            </a:r>
            <a:r>
              <a:rPr lang="de-DE"/>
              <a:t> - "Internet Movie Database"</a:t>
            </a:r>
          </a:p>
          <a:p>
            <a:r>
              <a:rPr lang="de-DE"/>
              <a:t>50.000 Film Rezensionen auf Englisch (50/50 Split)</a:t>
            </a:r>
          </a:p>
          <a:p>
            <a:r>
              <a:rPr lang="de-DE"/>
              <a:t>Targets: "negativ" / "positiv" (binär)</a:t>
            </a:r>
          </a:p>
          <a:p>
            <a:r>
              <a:rPr lang="de-DE"/>
              <a:t>Features: Textrezension</a:t>
            </a:r>
            <a:br>
              <a:rPr lang="de-DE"/>
            </a:br>
            <a:endParaRPr lang="de-DE"/>
          </a:p>
          <a:p>
            <a:pPr marL="0" indent="0">
              <a:buNone/>
            </a:pPr>
            <a:r>
              <a:rPr lang="de-DE"/>
              <a:t>Beispiele:</a:t>
            </a:r>
          </a:p>
          <a:p>
            <a:r>
              <a:rPr lang="en-US" sz="2800"/>
              <a:t>“This was an absolutely </a:t>
            </a:r>
            <a:r>
              <a:rPr lang="en-US" sz="2800" b="1"/>
              <a:t>terrible</a:t>
            </a:r>
            <a:r>
              <a:rPr lang="en-US" sz="2800"/>
              <a:t> movie. Don't be lured in by Christopher Walken or Michael Ironside. Both are </a:t>
            </a:r>
            <a:r>
              <a:rPr lang="en-US" sz="2800" b="1"/>
              <a:t>great</a:t>
            </a:r>
            <a:r>
              <a:rPr lang="en-US" sz="2800"/>
              <a:t> actors, but this must simply be their </a:t>
            </a:r>
            <a:r>
              <a:rPr lang="en-US" sz="2800" b="1"/>
              <a:t>worst</a:t>
            </a:r>
            <a:r>
              <a:rPr lang="en-US" sz="2800"/>
              <a:t> role in history. Even their </a:t>
            </a:r>
            <a:r>
              <a:rPr lang="en-US" sz="2800" b="1"/>
              <a:t>great</a:t>
            </a:r>
            <a:r>
              <a:rPr lang="en-US" sz="2800"/>
              <a:t> acting ... “		Label: 0</a:t>
            </a:r>
            <a:r>
              <a:rPr lang="en-US"/>
              <a:t> </a:t>
            </a:r>
            <a:endParaRPr lang="en-US" sz="2800"/>
          </a:p>
          <a:p>
            <a:r>
              <a:rPr lang="en-US" sz="2800"/>
              <a:t>“I have been known to fall asleep during films, but this is usually due to a combination of things including, really tired, being warm and comfortable on the </a:t>
            </a:r>
            <a:r>
              <a:rPr lang="en-US" sz="2800" err="1"/>
              <a:t>sette</a:t>
            </a:r>
            <a:r>
              <a:rPr lang="en-US" sz="2800"/>
              <a:t> and having just eaten a lot. However ... “		Label: 0</a:t>
            </a:r>
          </a:p>
          <a:p>
            <a:r>
              <a:rPr lang="en-US" sz="2800"/>
              <a:t>“This is the kind of film for a snowy Sunday afternoon when the rest of the world can go ahead with its own business as you descend into a big arm-chair and mellow for a couple of hours. </a:t>
            </a:r>
            <a:r>
              <a:rPr lang="en-US" sz="2800" b="1"/>
              <a:t>Wonderful</a:t>
            </a:r>
            <a:r>
              <a:rPr lang="en-US" sz="2800"/>
              <a:t> perf ... “	Label: 1</a:t>
            </a:r>
            <a:endParaRPr lang="de-DE" sz="2800"/>
          </a:p>
        </p:txBody>
      </p:sp>
      <p:pic>
        <p:nvPicPr>
          <p:cNvPr id="6" name="Grafik 4" descr="Ein Bild, das Logo, Schrift, gelb, Symbol enthält.&#10;&#10;Automatisch generierte Beschreibung">
            <a:extLst>
              <a:ext uri="{FF2B5EF4-FFF2-40B4-BE49-F238E27FC236}">
                <a16:creationId xmlns:a16="http://schemas.microsoft.com/office/drawing/2014/main" id="{B4A43BF0-F296-BBBF-C532-80A4AFD0B3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000" y="2018979"/>
            <a:ext cx="2794637" cy="141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56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24118" y="1412489"/>
            <a:ext cx="3890682" cy="12500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Vorverarbeitung</a:t>
            </a:r>
            <a:r>
              <a:rPr lang="en-US" sz="3600">
                <a:solidFill>
                  <a:srgbClr val="FFFFFF"/>
                </a:solidFill>
              </a:rPr>
              <a:t>:</a:t>
            </a:r>
            <a:b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Tokenization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AF6E73-C09A-52AE-CD49-3CB6D0A03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1330" y="1253331"/>
            <a:ext cx="7743906" cy="4351338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4FB95C-A14A-8715-18FA-7939EC0DB455}"/>
              </a:ext>
            </a:extLst>
          </p:cNvPr>
          <p:cNvSpPr txBox="1"/>
          <p:nvPr/>
        </p:nvSpPr>
        <p:spPr>
          <a:xfrm>
            <a:off x="5182496" y="5604669"/>
            <a:ext cx="62215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100" b="0" i="0" u="none" strike="noStrike">
                <a:solidFill>
                  <a:srgbClr val="191919"/>
                </a:solidFill>
                <a:effectLst/>
                <a:latin typeface="sohne"/>
              </a:rPr>
              <a:t>Abbildung aus:</a:t>
            </a:r>
          </a:p>
          <a:p>
            <a:pPr algn="ctr"/>
            <a:r>
              <a:rPr lang="de-DE" sz="1100"/>
              <a:t>https://medium.com/@abdallahashraf90x/tokenization-in-nlp-all-you-need-to-know-45c00cfa2df7</a:t>
            </a:r>
            <a:endParaRPr lang="en-DE" sz="11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A2044D-A2AD-CA4B-BE17-B06ADF05E5F5}"/>
              </a:ext>
            </a:extLst>
          </p:cNvPr>
          <p:cNvSpPr/>
          <p:nvPr/>
        </p:nvSpPr>
        <p:spPr>
          <a:xfrm>
            <a:off x="4421330" y="2474259"/>
            <a:ext cx="7743906" cy="95474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749A73-F051-3DD4-A0A4-699AAF3E65EE}"/>
              </a:ext>
            </a:extLst>
          </p:cNvPr>
          <p:cNvSpPr txBox="1"/>
          <p:nvPr/>
        </p:nvSpPr>
        <p:spPr>
          <a:xfrm>
            <a:off x="6278097" y="415969"/>
            <a:ext cx="4057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Wie teilen wir am besten in Tokens auf?</a:t>
            </a:r>
            <a:endParaRPr lang="en-D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25FB0B-4299-C5A6-B7BF-70A39476F28C}"/>
              </a:ext>
            </a:extLst>
          </p:cNvPr>
          <p:cNvSpPr/>
          <p:nvPr/>
        </p:nvSpPr>
        <p:spPr>
          <a:xfrm>
            <a:off x="4421329" y="3362852"/>
            <a:ext cx="7743906" cy="95474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840D8F-9FF9-1698-8AF3-D065EF04C6F6}"/>
              </a:ext>
            </a:extLst>
          </p:cNvPr>
          <p:cNvSpPr/>
          <p:nvPr/>
        </p:nvSpPr>
        <p:spPr>
          <a:xfrm>
            <a:off x="4421329" y="4324603"/>
            <a:ext cx="7743906" cy="95474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4587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24118" y="1412489"/>
            <a:ext cx="3890682" cy="12500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Vorverarbeitung</a:t>
            </a:r>
            <a:r>
              <a:rPr lang="en-US" sz="3600">
                <a:solidFill>
                  <a:srgbClr val="FFFFFF"/>
                </a:solidFill>
              </a:rPr>
              <a:t>:</a:t>
            </a:r>
            <a:b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Tokenization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8DFA2D3-60D3-32F8-865B-EBB96C563D20}"/>
              </a:ext>
            </a:extLst>
          </p:cNvPr>
          <p:cNvSpPr txBox="1">
            <a:spLocks/>
          </p:cNvSpPr>
          <p:nvPr/>
        </p:nvSpPr>
        <p:spPr>
          <a:xfrm>
            <a:off x="4735096" y="1240712"/>
            <a:ext cx="7143139" cy="371677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600" dirty="0"/>
              <a:t>Tokenization bezeichnet: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800" dirty="0"/>
              <a:t>Das aufteilen eines Satzes in „sinnvolle“ Elemente</a:t>
            </a:r>
          </a:p>
          <a:p>
            <a:pPr algn="l"/>
            <a:endParaRPr lang="de-DE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200" dirty="0"/>
              <a:t>Tokenization-Strategie abhängig von der Sprache: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800" dirty="0"/>
              <a:t>Chinesisch hat keine Leerzeichen, Englisch/Deutsch schon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800" dirty="0"/>
              <a:t>Vietnamesich hat Leerstellen innerhalb von Wörtern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DE" sz="1800" dirty="0"/>
              <a:t>Deutsch hingegen kombiniert mehrere Worte</a:t>
            </a:r>
          </a:p>
          <a:p>
            <a:pPr lvl="1" algn="l"/>
            <a:endParaRPr lang="de-DE" sz="1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200" dirty="0"/>
              <a:t>Subword Tokenization: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sz="1800" dirty="0"/>
              <a:t>Mittels subword regularization</a:t>
            </a:r>
          </a:p>
          <a:p>
            <a:pPr lvl="1" algn="l"/>
            <a:endParaRPr lang="de-DE" sz="1800" dirty="0"/>
          </a:p>
          <a:p>
            <a:pPr algn="l"/>
            <a:r>
              <a:rPr lang="de-DE" sz="1200" dirty="0"/>
              <a:t>-Taku Kudo, </a:t>
            </a:r>
          </a:p>
          <a:p>
            <a:pPr algn="l"/>
            <a:r>
              <a:rPr lang="de-DE" sz="1200" dirty="0"/>
              <a:t>„Subword Regularization: Improving Neural Network Translation Models with Multiple Subword Candidates“ 2018</a:t>
            </a:r>
          </a:p>
        </p:txBody>
      </p:sp>
      <p:sp>
        <p:nvSpPr>
          <p:cNvPr id="10" name="Textfeld 3">
            <a:extLst>
              <a:ext uri="{FF2B5EF4-FFF2-40B4-BE49-F238E27FC236}">
                <a16:creationId xmlns:a16="http://schemas.microsoft.com/office/drawing/2014/main" id="{A7A558A2-997A-6F79-00CB-4EE64F456E33}"/>
              </a:ext>
            </a:extLst>
          </p:cNvPr>
          <p:cNvSpPr txBox="1"/>
          <p:nvPr/>
        </p:nvSpPr>
        <p:spPr>
          <a:xfrm>
            <a:off x="1672389" y="6427113"/>
            <a:ext cx="884722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100"/>
              <a:t>"Hands-On </a:t>
            </a:r>
            <a:r>
              <a:rPr lang="de-DE" sz="1100" err="1"/>
              <a:t>Machine</a:t>
            </a:r>
            <a:r>
              <a:rPr lang="de-DE" sz="1100"/>
              <a:t> Learning </a:t>
            </a:r>
            <a:r>
              <a:rPr lang="de-DE" sz="1100" err="1"/>
              <a:t>with</a:t>
            </a:r>
            <a:r>
              <a:rPr lang="de-DE" sz="1100"/>
              <a:t> </a:t>
            </a:r>
            <a:r>
              <a:rPr lang="de-DE" sz="1100" err="1"/>
              <a:t>Scikit-Learn</a:t>
            </a:r>
            <a:r>
              <a:rPr lang="de-DE" sz="1100"/>
              <a:t>, Keras &amp; </a:t>
            </a:r>
            <a:r>
              <a:rPr lang="de-DE" sz="1100" err="1"/>
              <a:t>Tensorflow</a:t>
            </a:r>
            <a:r>
              <a:rPr lang="de-DE" sz="1100"/>
              <a:t>", Aurélien </a:t>
            </a:r>
            <a:r>
              <a:rPr lang="de-DE" sz="1100" err="1"/>
              <a:t>Géron</a:t>
            </a:r>
            <a:r>
              <a:rPr lang="de-DE" sz="1100"/>
              <a:t>: </a:t>
            </a:r>
          </a:p>
          <a:p>
            <a:r>
              <a:rPr lang="de-DE" sz="1100"/>
              <a:t>Chapter 13, </a:t>
            </a:r>
            <a:r>
              <a:rPr lang="de-DE" sz="1100" err="1"/>
              <a:t>Loading</a:t>
            </a:r>
            <a:r>
              <a:rPr lang="de-DE" sz="1100"/>
              <a:t> and </a:t>
            </a:r>
            <a:r>
              <a:rPr lang="de-DE" sz="1100" err="1"/>
              <a:t>Preprocessing</a:t>
            </a:r>
            <a:r>
              <a:rPr lang="de-DE" sz="1100"/>
              <a:t> Data </a:t>
            </a:r>
            <a:r>
              <a:rPr lang="de-DE" sz="1100" err="1"/>
              <a:t>with</a:t>
            </a:r>
            <a:r>
              <a:rPr lang="de-DE" sz="1100"/>
              <a:t> </a:t>
            </a:r>
            <a:r>
              <a:rPr lang="de-DE" sz="1100" err="1"/>
              <a:t>TensorFlow</a:t>
            </a:r>
            <a:endParaRPr lang="de-DE" sz="1100"/>
          </a:p>
        </p:txBody>
      </p:sp>
    </p:spTree>
    <p:extLst>
      <p:ext uri="{BB962C8B-B14F-4D97-AF65-F5344CB8AC3E}">
        <p14:creationId xmlns:p14="http://schemas.microsoft.com/office/powerpoint/2010/main" val="1431629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24118" y="1412489"/>
            <a:ext cx="3890682" cy="12500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Vorverarbeitung</a:t>
            </a: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  <a:b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Tokenization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A73AA8-72E1-1849-F28F-9BB76D8F96AC}"/>
              </a:ext>
            </a:extLst>
          </p:cNvPr>
          <p:cNvSpPr txBox="1">
            <a:spLocks/>
          </p:cNvSpPr>
          <p:nvPr/>
        </p:nvSpPr>
        <p:spPr>
          <a:xfrm>
            <a:off x="4533390" y="1253331"/>
            <a:ext cx="754655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dirty="0"/>
              <a:t>Tokenization mit Subword </a:t>
            </a:r>
            <a:r>
              <a:rPr lang="de-DE" dirty="0">
                <a:ea typeface="+mn-lt"/>
                <a:cs typeface="+mn-lt"/>
              </a:rPr>
              <a:t>regularization</a:t>
            </a:r>
          </a:p>
          <a:p>
            <a:pPr algn="l"/>
            <a:endParaRPr lang="de-DE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Technik aus dem NMT (Neural Machine Translation)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Wörter werden in Teile aufgeteilt, die am häufigsten auftreten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dirty="0"/>
              <a:t>Aufteilung wird mit den Trainingsdaten ermittelt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Bewältigt Problem der offenen Vokabelgröße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dirty="0"/>
              <a:t>Reduzierung des Vokabulars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Problem: Mögliche Mehrdeutigkeit in Subwörtern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dirty="0"/>
              <a:t>Kann jedoch genutzt werden, um die Robustheit zu verbessern</a:t>
            </a:r>
          </a:p>
          <a:p>
            <a:pPr lvl="1" algn="l">
              <a:buFont typeface="Courier New" panose="020B0604020202020204" pitchFamily="34" charset="0"/>
              <a:buChar char="o"/>
            </a:pPr>
            <a:endParaRPr lang="de-DE" dirty="0"/>
          </a:p>
          <a:p>
            <a:pPr lvl="1" algn="l"/>
            <a:r>
              <a:rPr lang="de-DE" dirty="0"/>
              <a:t>schlauer -&gt; schlau | er </a:t>
            </a:r>
          </a:p>
          <a:p>
            <a:pPr lvl="1" algn="l"/>
            <a:r>
              <a:rPr lang="de-DE" dirty="0"/>
              <a:t>–&gt; schlau / Verb </a:t>
            </a:r>
          </a:p>
          <a:p>
            <a:pPr lvl="1" algn="l"/>
            <a:r>
              <a:rPr lang="de-DE" dirty="0"/>
              <a:t>–&gt; er / Suffix oder Pronomen (Mehrdeutig)</a:t>
            </a:r>
          </a:p>
          <a:p>
            <a:pPr lvl="1" algn="l"/>
            <a:endParaRPr lang="de-DE" dirty="0">
              <a:highlight>
                <a:srgbClr val="FF00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0A1205-250D-7C78-358B-1AF83B3A7504}"/>
              </a:ext>
            </a:extLst>
          </p:cNvPr>
          <p:cNvSpPr txBox="1"/>
          <p:nvPr/>
        </p:nvSpPr>
        <p:spPr>
          <a:xfrm>
            <a:off x="2333063" y="6581001"/>
            <a:ext cx="8583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“</a:t>
            </a:r>
            <a:r>
              <a:rPr lang="en-US" sz="1200" err="1"/>
              <a:t>Subword</a:t>
            </a:r>
            <a:r>
              <a:rPr lang="en-US" sz="1200"/>
              <a:t> Regularization: Improving Neural Network Translation Models with Multiple </a:t>
            </a:r>
            <a:r>
              <a:rPr lang="en-US" sz="1200" err="1"/>
              <a:t>Subword</a:t>
            </a:r>
            <a:r>
              <a:rPr lang="en-US" sz="1200"/>
              <a:t> Candidates”, Taku Kudo 2018</a:t>
            </a:r>
            <a:endParaRPr lang="en-DE" sz="1200"/>
          </a:p>
        </p:txBody>
      </p:sp>
    </p:spTree>
    <p:extLst>
      <p:ext uri="{BB962C8B-B14F-4D97-AF65-F5344CB8AC3E}">
        <p14:creationId xmlns:p14="http://schemas.microsoft.com/office/powerpoint/2010/main" val="3851100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24118" y="1412489"/>
            <a:ext cx="3890682" cy="12500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Vorverarbeitung</a:t>
            </a:r>
            <a:r>
              <a:rPr lang="en-US" sz="3600" dirty="0">
                <a:solidFill>
                  <a:srgbClr val="FFFFFF"/>
                </a:solidFill>
              </a:rPr>
              <a:t>:</a:t>
            </a:r>
            <a:b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Embedding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4496166C-29C0-AD98-788F-881FE2A05EF5}"/>
              </a:ext>
            </a:extLst>
          </p:cNvPr>
          <p:cNvSpPr txBox="1">
            <a:spLocks/>
          </p:cNvSpPr>
          <p:nvPr/>
        </p:nvSpPr>
        <p:spPr>
          <a:xfrm>
            <a:off x="4935070" y="1253331"/>
            <a:ext cx="6889377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Verfahren zur Umwandlung von Tokens in ein numerisches Format (Vektoren)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dirty="0"/>
              <a:t>Entweder ein Vektor pro Satz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dirty="0"/>
              <a:t>Oder ein Vektor pro Wort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Verschiedene Arten: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dirty="0"/>
              <a:t>One-hot-Encoding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dirty="0"/>
              <a:t>Word2Vec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dirty="0"/>
              <a:t>GloVec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dirty="0"/>
              <a:t>Und weitere</a:t>
            </a:r>
          </a:p>
        </p:txBody>
      </p:sp>
      <p:sp>
        <p:nvSpPr>
          <p:cNvPr id="5" name="Textfeld 3">
            <a:extLst>
              <a:ext uri="{FF2B5EF4-FFF2-40B4-BE49-F238E27FC236}">
                <a16:creationId xmlns:a16="http://schemas.microsoft.com/office/drawing/2014/main" id="{CAD443E1-144D-B9DA-9333-13DF72AB404D}"/>
              </a:ext>
            </a:extLst>
          </p:cNvPr>
          <p:cNvSpPr txBox="1"/>
          <p:nvPr/>
        </p:nvSpPr>
        <p:spPr>
          <a:xfrm>
            <a:off x="1672389" y="6427113"/>
            <a:ext cx="884722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100"/>
              <a:t>"Hands-On </a:t>
            </a:r>
            <a:r>
              <a:rPr lang="de-DE" sz="1100" err="1"/>
              <a:t>Machine</a:t>
            </a:r>
            <a:r>
              <a:rPr lang="de-DE" sz="1100"/>
              <a:t> Learning </a:t>
            </a:r>
            <a:r>
              <a:rPr lang="de-DE" sz="1100" err="1"/>
              <a:t>with</a:t>
            </a:r>
            <a:r>
              <a:rPr lang="de-DE" sz="1100"/>
              <a:t> </a:t>
            </a:r>
            <a:r>
              <a:rPr lang="de-DE" sz="1100" err="1"/>
              <a:t>Scikit-Learn</a:t>
            </a:r>
            <a:r>
              <a:rPr lang="de-DE" sz="1100"/>
              <a:t>, Keras &amp; </a:t>
            </a:r>
            <a:r>
              <a:rPr lang="de-DE" sz="1100" err="1"/>
              <a:t>Tensorflow</a:t>
            </a:r>
            <a:r>
              <a:rPr lang="de-DE" sz="1100"/>
              <a:t>", Aurélien </a:t>
            </a:r>
            <a:r>
              <a:rPr lang="de-DE" sz="1100" err="1"/>
              <a:t>Géron</a:t>
            </a:r>
            <a:r>
              <a:rPr lang="de-DE" sz="1100"/>
              <a:t>: </a:t>
            </a:r>
          </a:p>
          <a:p>
            <a:r>
              <a:rPr lang="de-DE" sz="1100"/>
              <a:t>Chapter 13, </a:t>
            </a:r>
            <a:r>
              <a:rPr lang="de-DE" sz="1100" err="1"/>
              <a:t>Loading</a:t>
            </a:r>
            <a:r>
              <a:rPr lang="de-DE" sz="1100"/>
              <a:t> and </a:t>
            </a:r>
            <a:r>
              <a:rPr lang="de-DE" sz="1100" err="1"/>
              <a:t>Preprocessing</a:t>
            </a:r>
            <a:r>
              <a:rPr lang="de-DE" sz="1100"/>
              <a:t> Data </a:t>
            </a:r>
            <a:r>
              <a:rPr lang="de-DE" sz="1100" err="1"/>
              <a:t>with</a:t>
            </a:r>
            <a:r>
              <a:rPr lang="de-DE" sz="1100"/>
              <a:t> </a:t>
            </a:r>
            <a:r>
              <a:rPr lang="de-DE" sz="1100" err="1"/>
              <a:t>TensorFlow</a:t>
            </a:r>
            <a:endParaRPr lang="de-DE" sz="1100"/>
          </a:p>
        </p:txBody>
      </p:sp>
    </p:spTree>
    <p:extLst>
      <p:ext uri="{BB962C8B-B14F-4D97-AF65-F5344CB8AC3E}">
        <p14:creationId xmlns:p14="http://schemas.microsoft.com/office/powerpoint/2010/main" val="374227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24118" y="1412489"/>
            <a:ext cx="3890682" cy="12500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Vorverarbeitung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  <a:br>
              <a:rPr lang="en-US" sz="3600" kern="1200" dirty="0"/>
            </a:b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Embedding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4496166C-29C0-AD98-788F-881FE2A05EF5}"/>
              </a:ext>
            </a:extLst>
          </p:cNvPr>
          <p:cNvSpPr txBox="1">
            <a:spLocks/>
          </p:cNvSpPr>
          <p:nvPr/>
        </p:nvSpPr>
        <p:spPr>
          <a:xfrm>
            <a:off x="4907072" y="339697"/>
            <a:ext cx="6889377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err="1"/>
              <a:t>One</a:t>
            </a:r>
            <a:r>
              <a:rPr lang="de-DE"/>
              <a:t>-Hot-Encoding</a:t>
            </a:r>
          </a:p>
          <a:p>
            <a:pPr marL="0" indent="0" algn="l">
              <a:buNone/>
            </a:pPr>
            <a:endParaRPr lang="de-DE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/>
              <a:t>Kodiert einen Vektor mit 1en, an den Stellen, die einen Token repräsentieren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/>
              <a:t>Vorteile: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/>
              <a:t>simpel und effektiv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/>
              <a:t>Nachteile: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/>
              <a:t>Hohe Dimensionalität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/>
              <a:t>Fehlen von semantischen Beziehungen</a:t>
            </a:r>
          </a:p>
        </p:txBody>
      </p:sp>
      <p:pic>
        <p:nvPicPr>
          <p:cNvPr id="3" name="Picture 2" descr="An illustration of one-hot encoding and BoW models">
            <a:extLst>
              <a:ext uri="{FF2B5EF4-FFF2-40B4-BE49-F238E27FC236}">
                <a16:creationId xmlns:a16="http://schemas.microsoft.com/office/drawing/2014/main" id="{787F56C3-A6B4-6213-780D-C24FCD0E2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784" y="4156825"/>
            <a:ext cx="2385332" cy="2084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CC0CA1-FCC3-911D-4410-D8048F6C1871}"/>
              </a:ext>
            </a:extLst>
          </p:cNvPr>
          <p:cNvSpPr txBox="1"/>
          <p:nvPr/>
        </p:nvSpPr>
        <p:spPr>
          <a:xfrm>
            <a:off x="3617194" y="6378360"/>
            <a:ext cx="80385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/>
              <a:t>Abbildung aus:</a:t>
            </a:r>
          </a:p>
          <a:p>
            <a:pPr algn="ctr"/>
            <a:r>
              <a:rPr lang="de-DE" sz="1000"/>
              <a:t>„</a:t>
            </a:r>
            <a:r>
              <a:rPr lang="en-US" sz="1000" b="0" i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 A Comprehensive Survey on Word Representation Models: From Classical to State-Of-The-Art Word Representation Language Models</a:t>
            </a:r>
            <a:r>
              <a:rPr lang="de-DE" sz="1000"/>
              <a:t>“</a:t>
            </a:r>
            <a:endParaRPr lang="en-DE" sz="1000"/>
          </a:p>
        </p:txBody>
      </p:sp>
    </p:spTree>
    <p:extLst>
      <p:ext uri="{BB962C8B-B14F-4D97-AF65-F5344CB8AC3E}">
        <p14:creationId xmlns:p14="http://schemas.microsoft.com/office/powerpoint/2010/main" val="1056482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24118" y="1412489"/>
            <a:ext cx="3890682" cy="12500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Vorverarbeitung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 </a:t>
            </a:r>
            <a:b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Embedding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4496166C-29C0-AD98-788F-881FE2A05EF5}"/>
              </a:ext>
            </a:extLst>
          </p:cNvPr>
          <p:cNvSpPr txBox="1">
            <a:spLocks/>
          </p:cNvSpPr>
          <p:nvPr/>
        </p:nvSpPr>
        <p:spPr>
          <a:xfrm>
            <a:off x="5078505" y="1953825"/>
            <a:ext cx="6889377" cy="29503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/>
              <a:t>Word2Vec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/>
              <a:t>Vergibt jedem Token einen Vektor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/>
              <a:t>Erkennt semantische Beziehungen („Mann“ zu „Frau“)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/>
              <a:t>Die Vektoren werden während des Trainings angepasst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/>
              <a:t>Nachteil: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/>
              <a:t>Muss trainiert werden</a:t>
            </a:r>
          </a:p>
        </p:txBody>
      </p:sp>
    </p:spTree>
    <p:extLst>
      <p:ext uri="{BB962C8B-B14F-4D97-AF65-F5344CB8AC3E}">
        <p14:creationId xmlns:p14="http://schemas.microsoft.com/office/powerpoint/2010/main" val="3126483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24118" y="1412489"/>
            <a:ext cx="3890682" cy="12500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Vorverarbeitung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 </a:t>
            </a:r>
            <a:b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Embedding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94EF59-432F-7E1C-46DF-94BBE85F7ADA}"/>
              </a:ext>
            </a:extLst>
          </p:cNvPr>
          <p:cNvCxnSpPr>
            <a:cxnSpLocks/>
          </p:cNvCxnSpPr>
          <p:nvPr/>
        </p:nvCxnSpPr>
        <p:spPr>
          <a:xfrm>
            <a:off x="8209251" y="1890148"/>
            <a:ext cx="1" cy="32567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4E3A815-095E-90F5-E953-6C73B6666D4D}"/>
              </a:ext>
            </a:extLst>
          </p:cNvPr>
          <p:cNvCxnSpPr>
            <a:cxnSpLocks/>
          </p:cNvCxnSpPr>
          <p:nvPr/>
        </p:nvCxnSpPr>
        <p:spPr>
          <a:xfrm flipH="1">
            <a:off x="5178037" y="4537540"/>
            <a:ext cx="6257257" cy="1585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44FA0B6-B4D1-0605-B358-1B9D13EB214F}"/>
              </a:ext>
            </a:extLst>
          </p:cNvPr>
          <p:cNvCxnSpPr>
            <a:cxnSpLocks/>
          </p:cNvCxnSpPr>
          <p:nvPr/>
        </p:nvCxnSpPr>
        <p:spPr>
          <a:xfrm flipV="1">
            <a:off x="8209252" y="2574070"/>
            <a:ext cx="1910590" cy="1963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D991751-0E5D-774A-3303-C167879CE8AE}"/>
              </a:ext>
            </a:extLst>
          </p:cNvPr>
          <p:cNvCxnSpPr/>
          <p:nvPr/>
        </p:nvCxnSpPr>
        <p:spPr>
          <a:xfrm flipH="1">
            <a:off x="9922618" y="2574070"/>
            <a:ext cx="197224" cy="1219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2A26DA5-00E5-AAF2-99D9-813CB6729071}"/>
              </a:ext>
            </a:extLst>
          </p:cNvPr>
          <p:cNvCxnSpPr/>
          <p:nvPr/>
        </p:nvCxnSpPr>
        <p:spPr>
          <a:xfrm flipH="1">
            <a:off x="6184334" y="2081111"/>
            <a:ext cx="197224" cy="1219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2ED53FC-5CD7-3DF7-E411-6FCCA3451401}"/>
              </a:ext>
            </a:extLst>
          </p:cNvPr>
          <p:cNvCxnSpPr/>
          <p:nvPr/>
        </p:nvCxnSpPr>
        <p:spPr>
          <a:xfrm flipH="1" flipV="1">
            <a:off x="6184334" y="3300310"/>
            <a:ext cx="2024917" cy="1237230"/>
          </a:xfrm>
          <a:prstGeom prst="straightConnector1">
            <a:avLst/>
          </a:prstGeom>
          <a:ln>
            <a:solidFill>
              <a:schemeClr val="accent5">
                <a:alpha val="70000"/>
              </a:schemeClr>
            </a:solidFill>
            <a:prstDash val="dash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B6AFFF8-65AB-CF20-D817-5C93A6202A89}"/>
              </a:ext>
            </a:extLst>
          </p:cNvPr>
          <p:cNvCxnSpPr/>
          <p:nvPr/>
        </p:nvCxnSpPr>
        <p:spPr>
          <a:xfrm flipH="1" flipV="1">
            <a:off x="5960218" y="3918925"/>
            <a:ext cx="2249033" cy="618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C82144B-4792-9972-7B65-A01F597EED16}"/>
              </a:ext>
            </a:extLst>
          </p:cNvPr>
          <p:cNvSpPr txBox="1"/>
          <p:nvPr/>
        </p:nvSpPr>
        <p:spPr>
          <a:xfrm>
            <a:off x="9896256" y="2138791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>
                <a:solidFill>
                  <a:schemeClr val="accent1">
                    <a:lumMod val="60000"/>
                    <a:lumOff val="40000"/>
                  </a:schemeClr>
                </a:solidFill>
                <a:cs typeface="Cordia New" panose="020B0502040204020203" pitchFamily="34" charset="-34"/>
              </a:rPr>
              <a:t>Man</a:t>
            </a:r>
            <a:endParaRPr lang="en-DE">
              <a:solidFill>
                <a:schemeClr val="accent1">
                  <a:lumMod val="60000"/>
                  <a:lumOff val="40000"/>
                </a:schemeClr>
              </a:solidFill>
              <a:cs typeface="Cordia New" panose="020B0502040204020203" pitchFamily="34" charset="-34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6C34F4-8AE6-9235-AB2C-2B43D6D93E0E}"/>
              </a:ext>
            </a:extLst>
          </p:cNvPr>
          <p:cNvSpPr txBox="1"/>
          <p:nvPr/>
        </p:nvSpPr>
        <p:spPr>
          <a:xfrm>
            <a:off x="5808610" y="1727218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>
                <a:solidFill>
                  <a:schemeClr val="tx2">
                    <a:lumMod val="75000"/>
                    <a:lumOff val="25000"/>
                  </a:schemeClr>
                </a:solidFill>
                <a:cs typeface="Cordia New" panose="020B0502040204020203" pitchFamily="34" charset="-34"/>
              </a:rPr>
              <a:t>King</a:t>
            </a:r>
            <a:endParaRPr lang="en-DE">
              <a:solidFill>
                <a:schemeClr val="tx2">
                  <a:lumMod val="75000"/>
                  <a:lumOff val="25000"/>
                </a:schemeClr>
              </a:solidFill>
              <a:cs typeface="Cordia New" panose="020B0502040204020203" pitchFamily="34" charset="-34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6E2AC2-BD55-4C71-49CB-B83AAD4E1D58}"/>
              </a:ext>
            </a:extLst>
          </p:cNvPr>
          <p:cNvSpPr txBox="1"/>
          <p:nvPr/>
        </p:nvSpPr>
        <p:spPr>
          <a:xfrm>
            <a:off x="9896256" y="3761204"/>
            <a:ext cx="957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>
                <a:solidFill>
                  <a:srgbClr val="FF0000"/>
                </a:solidFill>
                <a:cs typeface="Cordia New" panose="020B0502040204020203" pitchFamily="34" charset="-34"/>
              </a:rPr>
              <a:t>Woman</a:t>
            </a:r>
            <a:endParaRPr lang="en-DE">
              <a:solidFill>
                <a:srgbClr val="FF0000"/>
              </a:solidFill>
              <a:cs typeface="Cordia New" panose="020B0502040204020203" pitchFamily="34" charset="-3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6980F0-23CD-451A-E655-AABDDA5BB91B}"/>
              </a:ext>
            </a:extLst>
          </p:cNvPr>
          <p:cNvSpPr txBox="1"/>
          <p:nvPr/>
        </p:nvSpPr>
        <p:spPr>
          <a:xfrm>
            <a:off x="5227020" y="3118140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>
                <a:solidFill>
                  <a:schemeClr val="accent5">
                    <a:lumMod val="75000"/>
                    <a:alpha val="70000"/>
                  </a:schemeClr>
                </a:solidFill>
                <a:cs typeface="Cordia New" panose="020B0502040204020203" pitchFamily="34" charset="-34"/>
              </a:rPr>
              <a:t>Queen*</a:t>
            </a:r>
            <a:endParaRPr lang="en-DE">
              <a:solidFill>
                <a:schemeClr val="accent5">
                  <a:lumMod val="75000"/>
                  <a:alpha val="70000"/>
                </a:schemeClr>
              </a:solidFill>
              <a:cs typeface="Cordia New" panose="020B0502040204020203" pitchFamily="34" charset="-3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4C411C-B833-84AF-0086-AE12E8D434F8}"/>
              </a:ext>
            </a:extLst>
          </p:cNvPr>
          <p:cNvSpPr txBox="1"/>
          <p:nvPr/>
        </p:nvSpPr>
        <p:spPr>
          <a:xfrm>
            <a:off x="5178037" y="3847258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>
                <a:solidFill>
                  <a:schemeClr val="accent5">
                    <a:lumMod val="75000"/>
                  </a:schemeClr>
                </a:solidFill>
                <a:cs typeface="Cordia New" panose="020B0502040204020203" pitchFamily="34" charset="-34"/>
              </a:rPr>
              <a:t>Queen</a:t>
            </a:r>
            <a:endParaRPr lang="en-DE">
              <a:solidFill>
                <a:schemeClr val="accent5">
                  <a:lumMod val="75000"/>
                </a:schemeClr>
              </a:solidFill>
              <a:cs typeface="Cordia New" panose="020B0502040204020203" pitchFamily="34" charset="-3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011EAE-5235-2823-AB50-EF532BCEFF55}"/>
              </a:ext>
            </a:extLst>
          </p:cNvPr>
          <p:cNvSpPr txBox="1"/>
          <p:nvPr/>
        </p:nvSpPr>
        <p:spPr>
          <a:xfrm>
            <a:off x="10227993" y="1082950"/>
            <a:ext cx="1562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>
                <a:solidFill>
                  <a:srgbClr val="FF0000"/>
                </a:solidFill>
                <a:cs typeface="Cordia New" panose="020B0502040204020203" pitchFamily="34" charset="-34"/>
              </a:rPr>
              <a:t>Woman</a:t>
            </a:r>
            <a:r>
              <a:rPr lang="de-DE">
                <a:cs typeface="Cordia New" panose="020B0502040204020203" pitchFamily="34" charset="-34"/>
              </a:rPr>
              <a:t> - </a:t>
            </a:r>
            <a:r>
              <a:rPr lang="de-DE">
                <a:solidFill>
                  <a:schemeClr val="accent4"/>
                </a:solidFill>
                <a:cs typeface="Cordia New" panose="020B0502040204020203" pitchFamily="34" charset="-34"/>
              </a:rPr>
              <a:t>Man</a:t>
            </a:r>
            <a:endParaRPr lang="en-DE">
              <a:solidFill>
                <a:schemeClr val="accent4"/>
              </a:solidFill>
              <a:cs typeface="Cordia New" panose="020B0502040204020203" pitchFamily="34" charset="-34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CC54B5-B988-CF85-C6F9-3537DD53741A}"/>
              </a:ext>
            </a:extLst>
          </p:cNvPr>
          <p:cNvSpPr txBox="1"/>
          <p:nvPr/>
        </p:nvSpPr>
        <p:spPr>
          <a:xfrm>
            <a:off x="8689784" y="1082950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>
                <a:solidFill>
                  <a:schemeClr val="accent5">
                    <a:lumMod val="75000"/>
                  </a:schemeClr>
                </a:solidFill>
                <a:cs typeface="Cordia New" panose="020B0502040204020203" pitchFamily="34" charset="-34"/>
              </a:rPr>
              <a:t>Queen</a:t>
            </a:r>
            <a:r>
              <a:rPr lang="de-DE">
                <a:cs typeface="Cordia New" panose="020B0502040204020203" pitchFamily="34" charset="-34"/>
              </a:rPr>
              <a:t> = </a:t>
            </a:r>
            <a:r>
              <a:rPr lang="de-DE">
                <a:solidFill>
                  <a:srgbClr val="0070C0"/>
                </a:solidFill>
                <a:cs typeface="Cordia New" panose="020B0502040204020203" pitchFamily="34" charset="-34"/>
              </a:rPr>
              <a:t>King</a:t>
            </a:r>
            <a:r>
              <a:rPr lang="de-DE">
                <a:cs typeface="Cordia New" panose="020B0502040204020203" pitchFamily="34" charset="-34"/>
              </a:rPr>
              <a:t> +</a:t>
            </a:r>
            <a:endParaRPr lang="en-DE">
              <a:cs typeface="Cordia New" panose="020B0502040204020203" pitchFamily="34" charset="-34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0890E9-4138-8284-9716-73D9A47B23F1}"/>
              </a:ext>
            </a:extLst>
          </p:cNvPr>
          <p:cNvSpPr txBox="1"/>
          <p:nvPr/>
        </p:nvSpPr>
        <p:spPr>
          <a:xfrm>
            <a:off x="4510238" y="5864706"/>
            <a:ext cx="5628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>
                <a:cs typeface="Cordia New" panose="020B0502040204020203" pitchFamily="34" charset="-34"/>
              </a:rPr>
              <a:t>Weshalb könnte Queen nicht da liegen, wie berechnet?</a:t>
            </a:r>
            <a:endParaRPr lang="en-DE">
              <a:cs typeface="Cordia New" panose="020B05020402040202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2975F3-DE84-0AF3-B90F-4595A9744E4D}"/>
              </a:ext>
            </a:extLst>
          </p:cNvPr>
          <p:cNvSpPr txBox="1"/>
          <p:nvPr/>
        </p:nvSpPr>
        <p:spPr>
          <a:xfrm>
            <a:off x="6536568" y="306913"/>
            <a:ext cx="3806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>
                <a:cs typeface="Cordia New" panose="020B0502040204020203" pitchFamily="34" charset="-34"/>
              </a:rPr>
              <a:t>Wie kommen wir von King zu Queen?</a:t>
            </a:r>
            <a:endParaRPr lang="en-DE">
              <a:cs typeface="Cordia New" panose="020B0502040204020203" pitchFamily="34" charset="-34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B67691-659D-5F0C-AD5F-E6B72F9E1630}"/>
              </a:ext>
            </a:extLst>
          </p:cNvPr>
          <p:cNvCxnSpPr>
            <a:cxnSpLocks/>
          </p:cNvCxnSpPr>
          <p:nvPr/>
        </p:nvCxnSpPr>
        <p:spPr>
          <a:xfrm flipH="1" flipV="1">
            <a:off x="6381558" y="2063081"/>
            <a:ext cx="3738284" cy="510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08D0D9A-0959-7D1B-38CD-8C7A1A395F5E}"/>
              </a:ext>
            </a:extLst>
          </p:cNvPr>
          <p:cNvSpPr/>
          <p:nvPr/>
        </p:nvSpPr>
        <p:spPr>
          <a:xfrm>
            <a:off x="8689784" y="1082950"/>
            <a:ext cx="3100496" cy="35616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>
              <a:cs typeface="Cordia New" panose="020B0502040204020203" pitchFamily="34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D71E91-14FB-97A5-92FE-607045EFAEE3}"/>
              </a:ext>
            </a:extLst>
          </p:cNvPr>
          <p:cNvSpPr txBox="1"/>
          <p:nvPr/>
        </p:nvSpPr>
        <p:spPr>
          <a:xfrm>
            <a:off x="4788945" y="1082950"/>
            <a:ext cx="3185225" cy="369332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7030A0"/>
                </a:solidFill>
                <a:cs typeface="Cordia New" panose="020B0502040204020203" pitchFamily="34" charset="-34"/>
              </a:rPr>
              <a:t>Queen</a:t>
            </a:r>
            <a:r>
              <a:rPr lang="de-DE">
                <a:cs typeface="Cordia New" panose="020B0502040204020203" pitchFamily="34" charset="-34"/>
              </a:rPr>
              <a:t> = </a:t>
            </a:r>
            <a:r>
              <a:rPr lang="de-DE">
                <a:solidFill>
                  <a:srgbClr val="FF0000"/>
                </a:solidFill>
                <a:cs typeface="Cordia New" panose="020B0502040204020203" pitchFamily="34" charset="-34"/>
              </a:rPr>
              <a:t>Woman</a:t>
            </a:r>
            <a:r>
              <a:rPr lang="de-DE">
                <a:cs typeface="Cordia New" panose="020B0502040204020203" pitchFamily="34" charset="-34"/>
              </a:rPr>
              <a:t> + </a:t>
            </a:r>
            <a:r>
              <a:rPr lang="de-DE">
                <a:solidFill>
                  <a:schemeClr val="tx2">
                    <a:lumMod val="75000"/>
                    <a:lumOff val="25000"/>
                  </a:schemeClr>
                </a:solidFill>
                <a:cs typeface="Cordia New" panose="020B0502040204020203" pitchFamily="34" charset="-34"/>
              </a:rPr>
              <a:t>King</a:t>
            </a:r>
            <a:r>
              <a:rPr lang="de-DE">
                <a:cs typeface="Cordia New" panose="020B0502040204020203" pitchFamily="34" charset="-34"/>
              </a:rPr>
              <a:t> - </a:t>
            </a:r>
            <a:r>
              <a:rPr lang="de-DE">
                <a:solidFill>
                  <a:schemeClr val="tx2">
                    <a:lumMod val="50000"/>
                    <a:lumOff val="50000"/>
                  </a:schemeClr>
                </a:solidFill>
                <a:cs typeface="Cordia New" panose="020B0502040204020203" pitchFamily="34" charset="-34"/>
              </a:rPr>
              <a:t>Man</a:t>
            </a:r>
            <a:endParaRPr lang="en-DE">
              <a:solidFill>
                <a:schemeClr val="tx2">
                  <a:lumMod val="50000"/>
                  <a:lumOff val="50000"/>
                </a:schemeClr>
              </a:solidFill>
              <a:cs typeface="Cordia New" panose="020B0502040204020203" pitchFamily="34" charset="-34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D17135D-2E26-24CB-7003-DFFA4681C176}"/>
              </a:ext>
            </a:extLst>
          </p:cNvPr>
          <p:cNvCxnSpPr/>
          <p:nvPr/>
        </p:nvCxnSpPr>
        <p:spPr>
          <a:xfrm flipH="1" flipV="1">
            <a:off x="6381559" y="2063081"/>
            <a:ext cx="1827693" cy="24744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77E2BA7-E7A4-3571-2F59-AB04EC9CD78E}"/>
              </a:ext>
            </a:extLst>
          </p:cNvPr>
          <p:cNvCxnSpPr>
            <a:cxnSpLocks/>
          </p:cNvCxnSpPr>
          <p:nvPr/>
        </p:nvCxnSpPr>
        <p:spPr>
          <a:xfrm flipH="1" flipV="1">
            <a:off x="6171153" y="3297815"/>
            <a:ext cx="3738284" cy="510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39BB63C-FEAB-B21B-615D-E7F8009475E2}"/>
              </a:ext>
            </a:extLst>
          </p:cNvPr>
          <p:cNvCxnSpPr/>
          <p:nvPr/>
        </p:nvCxnSpPr>
        <p:spPr>
          <a:xfrm flipV="1">
            <a:off x="8209252" y="3793270"/>
            <a:ext cx="1713366" cy="7442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139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5" grpId="0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8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10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12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58FEBA-07B5-DDA1-1425-9ADCD0CF9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791" y="1109805"/>
            <a:ext cx="3665034" cy="24126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br>
              <a:rPr lang="de-DE" sz="3600">
                <a:solidFill>
                  <a:schemeClr val="bg1"/>
                </a:solidFill>
                <a:ea typeface="+mj-lt"/>
                <a:cs typeface="+mj-lt"/>
              </a:rPr>
            </a:br>
            <a:r>
              <a:rPr lang="de-DE" sz="3600">
                <a:solidFill>
                  <a:schemeClr val="bg1"/>
                </a:solidFill>
                <a:ea typeface="+mj-lt"/>
                <a:cs typeface="+mj-lt"/>
              </a:rPr>
              <a:t>Inhaltsverzeichnis</a:t>
            </a:r>
            <a:endParaRPr lang="en-US" sz="3600">
              <a:solidFill>
                <a:schemeClr val="bg1"/>
              </a:solidFill>
              <a:ea typeface="+mj-lt"/>
              <a:cs typeface="+mj-l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4D1404-4903-1242-5524-3989D43F1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3534" y="958994"/>
            <a:ext cx="6299317" cy="5619069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de-DE" dirty="0"/>
              <a:t> Einleitung</a:t>
            </a:r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sz="2200" dirty="0"/>
              <a:t>Was ist NLP?</a:t>
            </a:r>
          </a:p>
          <a:p>
            <a:pPr marL="0" indent="0">
              <a:buNone/>
            </a:pPr>
            <a:r>
              <a:rPr lang="de-DE" sz="2200" dirty="0"/>
              <a:t>	Subfelder des NLP-Gebiets</a:t>
            </a:r>
          </a:p>
          <a:p>
            <a:pPr marL="0" indent="0">
              <a:buNone/>
            </a:pPr>
            <a:r>
              <a:rPr lang="de-DE" sz="2200" dirty="0"/>
              <a:t>	Woraus besteht ChatGPT?</a:t>
            </a:r>
          </a:p>
          <a:p>
            <a:pPr marL="0" indent="0">
              <a:buNone/>
            </a:pPr>
            <a:r>
              <a:rPr lang="de-DE" sz="2200" dirty="0"/>
              <a:t>	Unser Thema: Sentiment Analysis</a:t>
            </a:r>
          </a:p>
          <a:p>
            <a:pPr marL="0" indent="0">
              <a:buNone/>
            </a:pPr>
            <a:r>
              <a:rPr lang="de-DE" dirty="0"/>
              <a:t> Vorverarbeitung</a:t>
            </a:r>
          </a:p>
          <a:p>
            <a:pPr marL="0" indent="0">
              <a:buNone/>
            </a:pPr>
            <a:r>
              <a:rPr lang="de-DE" sz="2200" dirty="0"/>
              <a:t>	Vorstellung: Datensatz</a:t>
            </a:r>
          </a:p>
          <a:p>
            <a:pPr marL="0" indent="0">
              <a:buNone/>
            </a:pPr>
            <a:r>
              <a:rPr lang="de-DE" sz="2200" dirty="0"/>
              <a:t>	Tokenization</a:t>
            </a:r>
          </a:p>
          <a:p>
            <a:pPr marL="0" indent="0">
              <a:buNone/>
            </a:pPr>
            <a:r>
              <a:rPr lang="de-DE" sz="2200" dirty="0"/>
              <a:t>	Embedding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 </a:t>
            </a:r>
            <a:r>
              <a:rPr lang="en-US" dirty="0" err="1">
                <a:solidFill>
                  <a:srgbClr val="FF0000"/>
                </a:solidFill>
              </a:rPr>
              <a:t>Neuronales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Netz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trainieren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200" dirty="0"/>
              <a:t>	</a:t>
            </a:r>
            <a:r>
              <a:rPr lang="en-US" sz="2200" dirty="0" err="1"/>
              <a:t>Netz-Architektur</a:t>
            </a:r>
            <a:endParaRPr lang="en-US" sz="2200" dirty="0"/>
          </a:p>
          <a:p>
            <a:pPr marL="1657350" lvl="3" indent="-285750">
              <a:buFont typeface="Courier New" panose="02070309020205020404" pitchFamily="49" charset="0"/>
              <a:buChar char="o"/>
            </a:pPr>
            <a:r>
              <a:rPr lang="en-US" dirty="0"/>
              <a:t>Text-Vectorization Layer</a:t>
            </a:r>
          </a:p>
          <a:p>
            <a:pPr marL="1657350" lvl="3" indent="-285750">
              <a:buFont typeface="Courier New" panose="02070309020205020404" pitchFamily="49" charset="0"/>
              <a:buChar char="o"/>
            </a:pPr>
            <a:r>
              <a:rPr lang="en-US" dirty="0"/>
              <a:t>Embedding </a:t>
            </a:r>
            <a:r>
              <a:rPr lang="en-US" dirty="0">
                <a:ea typeface="+mn-lt"/>
                <a:cs typeface="+mn-lt"/>
              </a:rPr>
              <a:t>Layer</a:t>
            </a:r>
          </a:p>
          <a:p>
            <a:pPr marL="1657350" lvl="3" indent="-285750">
              <a:buFont typeface="Courier New" panose="02070309020205020404" pitchFamily="49" charset="0"/>
              <a:buChar char="o"/>
            </a:pPr>
            <a:r>
              <a:rPr lang="en-US" dirty="0"/>
              <a:t>GRU </a:t>
            </a:r>
            <a:r>
              <a:rPr lang="en-US" dirty="0">
                <a:ea typeface="+mn-lt"/>
                <a:cs typeface="+mn-lt"/>
              </a:rPr>
              <a:t>Layer</a:t>
            </a:r>
          </a:p>
          <a:p>
            <a:pPr marL="1657350" lvl="3" indent="-285750">
              <a:buFont typeface="Courier New" panose="02070309020205020404" pitchFamily="49" charset="0"/>
              <a:buChar char="o"/>
            </a:pPr>
            <a:r>
              <a:rPr lang="en-US" dirty="0"/>
              <a:t>Dense </a:t>
            </a:r>
            <a:r>
              <a:rPr lang="en-US" dirty="0">
                <a:ea typeface="+mn-lt"/>
                <a:cs typeface="+mn-lt"/>
              </a:rPr>
              <a:t>Layer</a:t>
            </a:r>
          </a:p>
          <a:p>
            <a:pPr marL="457200" lvl="1" indent="0">
              <a:buNone/>
            </a:pPr>
            <a:r>
              <a:rPr lang="en-US" sz="2200" dirty="0"/>
              <a:t>	</a:t>
            </a:r>
            <a:r>
              <a:rPr lang="en-US" sz="2200" dirty="0" err="1"/>
              <a:t>Trainingsergebnisse</a:t>
            </a:r>
            <a:endParaRPr lang="en-US" sz="2200" dirty="0"/>
          </a:p>
          <a:p>
            <a:pPr marL="0" indent="0">
              <a:buNone/>
            </a:pPr>
            <a:r>
              <a:rPr lang="en-US" dirty="0"/>
              <a:t> ChatGPT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Vergleich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 Where to go from here?</a:t>
            </a:r>
            <a:endParaRPr lang="en-US" dirty="0"/>
          </a:p>
          <a:p>
            <a:endParaRPr lang="de-DE" dirty="0">
              <a:cs typeface="Arial"/>
            </a:endParaRPr>
          </a:p>
          <a:p>
            <a:pPr marL="0" indent="0">
              <a:buNone/>
            </a:pPr>
            <a:endParaRPr lang="de-DE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135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AD7B8598-14BB-FD2B-21CB-7574B43A3F80}"/>
              </a:ext>
            </a:extLst>
          </p:cNvPr>
          <p:cNvSpPr/>
          <p:nvPr/>
        </p:nvSpPr>
        <p:spPr>
          <a:xfrm>
            <a:off x="830525" y="2110473"/>
            <a:ext cx="9377494" cy="1725715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BD09AFB-7029-C3D1-7CFB-D4A69C1A67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55496" y="-399175"/>
            <a:ext cx="12702989" cy="235771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9D222B-9DB5-9930-060C-7EDCD9938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37311" y="-1283855"/>
            <a:ext cx="13466618" cy="31094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8BBD9-4B89-AD49-9EAC-ED8B601C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964" y="116901"/>
            <a:ext cx="10515600" cy="1325563"/>
          </a:xfrm>
        </p:spPr>
        <p:txBody>
          <a:bodyPr/>
          <a:lstStyle/>
          <a:p>
            <a:pPr algn="ctr"/>
            <a:r>
              <a:rPr lang="en-US" err="1">
                <a:solidFill>
                  <a:schemeClr val="bg1"/>
                </a:solidFill>
              </a:rPr>
              <a:t>Neuronales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Netz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trainieren</a:t>
            </a:r>
            <a:br>
              <a:rPr lang="en-US">
                <a:solidFill>
                  <a:schemeClr val="bg1"/>
                </a:solidFill>
              </a:rPr>
            </a:br>
            <a:r>
              <a:rPr lang="en-US" sz="3200" err="1">
                <a:solidFill>
                  <a:schemeClr val="bg1"/>
                </a:solidFill>
              </a:rPr>
              <a:t>Rekurrentes</a:t>
            </a:r>
            <a:r>
              <a:rPr lang="en-US" sz="3200">
                <a:solidFill>
                  <a:schemeClr val="bg1"/>
                </a:solidFill>
              </a:rPr>
              <a:t> NN</a:t>
            </a:r>
            <a:endParaRPr lang="en-DE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60708-0878-3722-246E-7F79C843F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760" y="2111748"/>
            <a:ext cx="10360222" cy="18962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sz="1600" b="0" err="1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model</a:t>
            </a:r>
            <a:r>
              <a:rPr lang="de-DE" sz="1600" b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 = </a:t>
            </a:r>
            <a:r>
              <a:rPr lang="de-DE" sz="1600" b="0" err="1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tf.keras.Sequential</a:t>
            </a:r>
            <a:r>
              <a:rPr lang="de-DE" sz="1600" b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([</a:t>
            </a:r>
            <a:endParaRPr lang="de-DE" sz="1600" b="0">
              <a:solidFill>
                <a:srgbClr val="D4D4D4"/>
              </a:solidFill>
              <a:effectLst/>
              <a:highlight>
                <a:srgbClr val="1E1E1E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de-DE" sz="1600">
                <a:solidFill>
                  <a:srgbClr val="D4D4D4"/>
                </a:solidFill>
                <a:latin typeface="Courier New"/>
                <a:cs typeface="Courier New"/>
              </a:rPr>
              <a:t>1. </a:t>
            </a:r>
            <a:r>
              <a:rPr lang="de-DE" sz="1600" b="0" err="1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text_vec_layer</a:t>
            </a:r>
            <a:r>
              <a:rPr lang="de-DE" sz="160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cs typeface="Courier New"/>
              </a:rPr>
              <a:t>,                                      </a:t>
            </a:r>
            <a:r>
              <a:rPr lang="de-DE" sz="1600">
                <a:solidFill>
                  <a:schemeClr val="accent6">
                    <a:lumMod val="60000"/>
                    <a:lumOff val="40000"/>
                  </a:schemeClr>
                </a:solidFill>
                <a:highlight>
                  <a:srgbClr val="1E1E1E"/>
                </a:highlight>
                <a:latin typeface="Courier New"/>
                <a:cs typeface="Courier New"/>
              </a:rPr>
              <a:t>// Input Layer</a:t>
            </a:r>
          </a:p>
          <a:p>
            <a:pPr marL="0" indent="0">
              <a:buNone/>
            </a:pPr>
            <a:r>
              <a:rPr lang="de-DE" sz="1600">
                <a:solidFill>
                  <a:srgbClr val="D4D4D4"/>
                </a:solidFill>
                <a:latin typeface="Courier New"/>
                <a:cs typeface="Courier New"/>
              </a:rPr>
              <a:t>2. </a:t>
            </a:r>
            <a:r>
              <a:rPr lang="de-DE" sz="1600" b="0" err="1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tf.keras.layers.Embedding</a:t>
            </a:r>
            <a:r>
              <a:rPr lang="de-DE" sz="1600" b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(</a:t>
            </a:r>
            <a:r>
              <a:rPr lang="de-DE" sz="1600" b="0" err="1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vocab_size</a:t>
            </a:r>
            <a:r>
              <a:rPr lang="de-DE" sz="1600" b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,</a:t>
            </a:r>
            <a:r>
              <a:rPr lang="de-DE" sz="1600" b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 </a:t>
            </a:r>
            <a:r>
              <a:rPr lang="de-DE" sz="1600" b="0" err="1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embed_size</a:t>
            </a:r>
            <a:r>
              <a:rPr lang="de-DE" sz="160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cs typeface="Courier New"/>
              </a:rPr>
              <a:t>),   </a:t>
            </a:r>
            <a:r>
              <a:rPr lang="de-DE" sz="1600">
                <a:solidFill>
                  <a:schemeClr val="accent6">
                    <a:lumMod val="60000"/>
                    <a:lumOff val="40000"/>
                  </a:schemeClr>
                </a:solidFill>
                <a:highlight>
                  <a:srgbClr val="1E1E1E"/>
                </a:highlight>
                <a:latin typeface="Courier New"/>
                <a:cs typeface="Courier New"/>
              </a:rPr>
              <a:t>// Embedding Layer</a:t>
            </a:r>
            <a:endParaRPr lang="de-DE" sz="16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de-DE" sz="1600">
                <a:solidFill>
                  <a:srgbClr val="D4D4D4"/>
                </a:solidFill>
                <a:latin typeface="Courier New"/>
                <a:cs typeface="Courier New"/>
              </a:rPr>
              <a:t>3. </a:t>
            </a:r>
            <a:r>
              <a:rPr lang="de-DE" sz="1600" b="0" err="1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tf.keras.layers.GRU</a:t>
            </a:r>
            <a:r>
              <a:rPr lang="de-DE" sz="1600" b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(</a:t>
            </a:r>
            <a:r>
              <a:rPr lang="de-DE" sz="1600" b="0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128</a:t>
            </a:r>
            <a:r>
              <a:rPr lang="de-DE" sz="160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cs typeface="Courier New"/>
              </a:rPr>
              <a:t>),                            </a:t>
            </a:r>
            <a:r>
              <a:rPr lang="de-DE" sz="1600">
                <a:solidFill>
                  <a:schemeClr val="accent6">
                    <a:lumMod val="60000"/>
                    <a:lumOff val="40000"/>
                  </a:schemeClr>
                </a:solidFill>
                <a:highlight>
                  <a:srgbClr val="1E1E1E"/>
                </a:highlight>
                <a:latin typeface="Courier New"/>
                <a:cs typeface="Courier New"/>
              </a:rPr>
              <a:t>// GRU Layer</a:t>
            </a:r>
            <a:endParaRPr lang="de-DE" sz="1600">
              <a:solidFill>
                <a:schemeClr val="accent6">
                  <a:lumMod val="60000"/>
                  <a:lumOff val="40000"/>
                </a:schemeClr>
              </a:solidFill>
              <a:latin typeface="Aptos" panose="020B0004020202020204"/>
              <a:cs typeface="Courier New"/>
            </a:endParaRPr>
          </a:p>
          <a:p>
            <a:pPr marL="0" indent="0">
              <a:buNone/>
            </a:pPr>
            <a:r>
              <a:rPr lang="de-DE" sz="1600">
                <a:solidFill>
                  <a:srgbClr val="D4D4D4"/>
                </a:solidFill>
                <a:latin typeface="Courier New"/>
                <a:cs typeface="Courier New"/>
              </a:rPr>
              <a:t>4. </a:t>
            </a:r>
            <a:r>
              <a:rPr lang="de-DE" sz="1600" b="0" err="1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tf.keras.layers.Dense</a:t>
            </a:r>
            <a:r>
              <a:rPr lang="de-DE" sz="1600" b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(</a:t>
            </a:r>
            <a:r>
              <a:rPr lang="de-DE" sz="1600" b="0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1</a:t>
            </a:r>
            <a:r>
              <a:rPr lang="de-DE" sz="1600" b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,</a:t>
            </a:r>
            <a:r>
              <a:rPr lang="de-DE" sz="1600" b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 </a:t>
            </a:r>
            <a:r>
              <a:rPr lang="de-DE" sz="1600" b="0" err="1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activation</a:t>
            </a:r>
            <a:r>
              <a:rPr lang="de-DE" sz="1600" b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=</a:t>
            </a:r>
            <a:r>
              <a:rPr lang="de-DE" sz="1600" b="0">
                <a:solidFill>
                  <a:srgbClr val="CE9178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"</a:t>
            </a:r>
            <a:r>
              <a:rPr lang="de-DE" sz="1600" b="0" err="1">
                <a:solidFill>
                  <a:srgbClr val="CE9178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sigmoid</a:t>
            </a:r>
            <a:r>
              <a:rPr lang="de-DE" sz="1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cs typeface="Courier New"/>
              </a:rPr>
              <a:t>"</a:t>
            </a:r>
            <a:r>
              <a:rPr lang="de-DE" sz="160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cs typeface="Courier New"/>
              </a:rPr>
              <a:t>)])     </a:t>
            </a:r>
            <a:r>
              <a:rPr lang="de-DE" sz="1600">
                <a:solidFill>
                  <a:schemeClr val="accent6">
                    <a:lumMod val="60000"/>
                    <a:lumOff val="40000"/>
                  </a:schemeClr>
                </a:solidFill>
                <a:highlight>
                  <a:srgbClr val="1E1E1E"/>
                </a:highlight>
                <a:latin typeface="Courier New"/>
                <a:cs typeface="Courier New"/>
              </a:rPr>
              <a:t>// </a:t>
            </a:r>
            <a:r>
              <a:rPr lang="de-DE" sz="1600" err="1">
                <a:solidFill>
                  <a:schemeClr val="accent6">
                    <a:lumMod val="60000"/>
                    <a:lumOff val="40000"/>
                  </a:schemeClr>
                </a:solidFill>
                <a:highlight>
                  <a:srgbClr val="1E1E1E"/>
                </a:highlight>
                <a:latin typeface="Courier New"/>
                <a:cs typeface="Courier New"/>
              </a:rPr>
              <a:t>Dense</a:t>
            </a:r>
            <a:r>
              <a:rPr lang="de-DE" sz="1600">
                <a:solidFill>
                  <a:schemeClr val="accent6">
                    <a:lumMod val="60000"/>
                    <a:lumOff val="40000"/>
                  </a:schemeClr>
                </a:solidFill>
                <a:highlight>
                  <a:srgbClr val="1E1E1E"/>
                </a:highlight>
                <a:latin typeface="Courier New"/>
                <a:cs typeface="Courier New"/>
              </a:rPr>
              <a:t> Layer</a:t>
            </a:r>
            <a:endParaRPr lang="de-DE" sz="16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de-DE" sz="1600">
              <a:sym typeface="Wingdings" panose="05000000000000000000" pitchFamily="2" charset="2"/>
            </a:endParaRPr>
          </a:p>
          <a:p>
            <a:endParaRPr lang="en-DE" sz="16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Freihand 19">
                <a:extLst>
                  <a:ext uri="{FF2B5EF4-FFF2-40B4-BE49-F238E27FC236}">
                    <a16:creationId xmlns:a16="http://schemas.microsoft.com/office/drawing/2014/main" id="{C366F5AA-A353-A268-719A-5A96BBCBA473}"/>
                  </a:ext>
                </a:extLst>
              </p14:cNvPr>
              <p14:cNvContentPartPr/>
              <p14:nvPr/>
            </p14:nvContentPartPr>
            <p14:xfrm>
              <a:off x="481475" y="4297211"/>
              <a:ext cx="256320" cy="2086560"/>
            </p14:xfrm>
          </p:contentPart>
        </mc:Choice>
        <mc:Fallback xmlns="">
          <p:pic>
            <p:nvPicPr>
              <p:cNvPr id="9" name="Freihand 19">
                <a:extLst>
                  <a:ext uri="{FF2B5EF4-FFF2-40B4-BE49-F238E27FC236}">
                    <a16:creationId xmlns:a16="http://schemas.microsoft.com/office/drawing/2014/main" id="{C366F5AA-A353-A268-719A-5A96BBCBA4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8475" y="4234211"/>
                <a:ext cx="381960" cy="221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uppieren 34">
            <a:extLst>
              <a:ext uri="{FF2B5EF4-FFF2-40B4-BE49-F238E27FC236}">
                <a16:creationId xmlns:a16="http://schemas.microsoft.com/office/drawing/2014/main" id="{79F101E7-32BE-9CAC-5142-02A203DDDE97}"/>
              </a:ext>
            </a:extLst>
          </p:cNvPr>
          <p:cNvGrpSpPr/>
          <p:nvPr/>
        </p:nvGrpSpPr>
        <p:grpSpPr>
          <a:xfrm>
            <a:off x="3111792" y="4254785"/>
            <a:ext cx="343800" cy="2230200"/>
            <a:chOff x="2741180" y="3740508"/>
            <a:chExt cx="343800" cy="22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Freihand 25">
                  <a:extLst>
                    <a:ext uri="{FF2B5EF4-FFF2-40B4-BE49-F238E27FC236}">
                      <a16:creationId xmlns:a16="http://schemas.microsoft.com/office/drawing/2014/main" id="{4837C8A7-C73B-F6E8-48FB-47CAF369E214}"/>
                    </a:ext>
                  </a:extLst>
                </p14:cNvPr>
                <p14:cNvContentPartPr/>
                <p14:nvPr/>
              </p14:nvContentPartPr>
              <p14:xfrm>
                <a:off x="2741180" y="3740508"/>
                <a:ext cx="295920" cy="571320"/>
              </p14:xfrm>
            </p:contentPart>
          </mc:Choice>
          <mc:Fallback xmlns="">
            <p:pic>
              <p:nvPicPr>
                <p:cNvPr id="12" name="Freihand 25">
                  <a:extLst>
                    <a:ext uri="{FF2B5EF4-FFF2-40B4-BE49-F238E27FC236}">
                      <a16:creationId xmlns:a16="http://schemas.microsoft.com/office/drawing/2014/main" id="{4837C8A7-C73B-F6E8-48FB-47CAF369E21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78180" y="3677548"/>
                  <a:ext cx="421560" cy="6968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Freihand 27">
                  <a:extLst>
                    <a:ext uri="{FF2B5EF4-FFF2-40B4-BE49-F238E27FC236}">
                      <a16:creationId xmlns:a16="http://schemas.microsoft.com/office/drawing/2014/main" id="{B77D70F8-085E-7E4D-1458-05BF90E3F61B}"/>
                    </a:ext>
                  </a:extLst>
                </p14:cNvPr>
                <p14:cNvContentPartPr/>
                <p14:nvPr/>
              </p14:nvContentPartPr>
              <p14:xfrm>
                <a:off x="2797340" y="4682268"/>
                <a:ext cx="220320" cy="417600"/>
              </p14:xfrm>
            </p:contentPart>
          </mc:Choice>
          <mc:Fallback xmlns="">
            <p:pic>
              <p:nvPicPr>
                <p:cNvPr id="13" name="Freihand 27">
                  <a:extLst>
                    <a:ext uri="{FF2B5EF4-FFF2-40B4-BE49-F238E27FC236}">
                      <a16:creationId xmlns:a16="http://schemas.microsoft.com/office/drawing/2014/main" id="{B77D70F8-085E-7E4D-1458-05BF90E3F61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34340" y="4619268"/>
                  <a:ext cx="34596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Freihand 31">
                  <a:extLst>
                    <a:ext uri="{FF2B5EF4-FFF2-40B4-BE49-F238E27FC236}">
                      <a16:creationId xmlns:a16="http://schemas.microsoft.com/office/drawing/2014/main" id="{E6FC4F99-1B87-CF22-36D7-34A4BC7C3045}"/>
                    </a:ext>
                  </a:extLst>
                </p14:cNvPr>
                <p14:cNvContentPartPr/>
                <p14:nvPr/>
              </p14:nvContentPartPr>
              <p14:xfrm>
                <a:off x="2817500" y="5486868"/>
                <a:ext cx="267480" cy="483840"/>
              </p14:xfrm>
            </p:contentPart>
          </mc:Choice>
          <mc:Fallback xmlns="">
            <p:pic>
              <p:nvPicPr>
                <p:cNvPr id="14" name="Freihand 31">
                  <a:extLst>
                    <a:ext uri="{FF2B5EF4-FFF2-40B4-BE49-F238E27FC236}">
                      <a16:creationId xmlns:a16="http://schemas.microsoft.com/office/drawing/2014/main" id="{E6FC4F99-1B87-CF22-36D7-34A4BC7C304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54500" y="5423868"/>
                  <a:ext cx="393120" cy="60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uppieren 39">
            <a:extLst>
              <a:ext uri="{FF2B5EF4-FFF2-40B4-BE49-F238E27FC236}">
                <a16:creationId xmlns:a16="http://schemas.microsoft.com/office/drawing/2014/main" id="{7385D8E6-175C-EF13-AE19-2C6A1C4410DE}"/>
              </a:ext>
            </a:extLst>
          </p:cNvPr>
          <p:cNvGrpSpPr/>
          <p:nvPr/>
        </p:nvGrpSpPr>
        <p:grpSpPr>
          <a:xfrm>
            <a:off x="5070192" y="4210865"/>
            <a:ext cx="460800" cy="2221560"/>
            <a:chOff x="4699580" y="3696588"/>
            <a:chExt cx="460800" cy="22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Freihand 26">
                  <a:extLst>
                    <a:ext uri="{FF2B5EF4-FFF2-40B4-BE49-F238E27FC236}">
                      <a16:creationId xmlns:a16="http://schemas.microsoft.com/office/drawing/2014/main" id="{796B1B04-A6ED-A098-3A05-E4EC6CE7C00B}"/>
                    </a:ext>
                  </a:extLst>
                </p14:cNvPr>
                <p14:cNvContentPartPr/>
                <p14:nvPr/>
              </p14:nvContentPartPr>
              <p14:xfrm>
                <a:off x="4809020" y="3696588"/>
                <a:ext cx="321480" cy="565560"/>
              </p14:xfrm>
            </p:contentPart>
          </mc:Choice>
          <mc:Fallback xmlns="">
            <p:pic>
              <p:nvPicPr>
                <p:cNvPr id="16" name="Freihand 26">
                  <a:extLst>
                    <a:ext uri="{FF2B5EF4-FFF2-40B4-BE49-F238E27FC236}">
                      <a16:creationId xmlns:a16="http://schemas.microsoft.com/office/drawing/2014/main" id="{796B1B04-A6ED-A098-3A05-E4EC6CE7C00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746020" y="3633588"/>
                  <a:ext cx="447120" cy="69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Freihand 28">
                  <a:extLst>
                    <a:ext uri="{FF2B5EF4-FFF2-40B4-BE49-F238E27FC236}">
                      <a16:creationId xmlns:a16="http://schemas.microsoft.com/office/drawing/2014/main" id="{70C0133D-CBDE-8370-E852-D9409D91B358}"/>
                    </a:ext>
                  </a:extLst>
                </p14:cNvPr>
                <p14:cNvContentPartPr/>
                <p14:nvPr/>
              </p14:nvContentPartPr>
              <p14:xfrm>
                <a:off x="4852220" y="4581468"/>
                <a:ext cx="308160" cy="608760"/>
              </p14:xfrm>
            </p:contentPart>
          </mc:Choice>
          <mc:Fallback xmlns="">
            <p:pic>
              <p:nvPicPr>
                <p:cNvPr id="17" name="Freihand 28">
                  <a:extLst>
                    <a:ext uri="{FF2B5EF4-FFF2-40B4-BE49-F238E27FC236}">
                      <a16:creationId xmlns:a16="http://schemas.microsoft.com/office/drawing/2014/main" id="{70C0133D-CBDE-8370-E852-D9409D91B35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789220" y="4518505"/>
                  <a:ext cx="433800" cy="7343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" name="Freihand 32">
                  <a:extLst>
                    <a:ext uri="{FF2B5EF4-FFF2-40B4-BE49-F238E27FC236}">
                      <a16:creationId xmlns:a16="http://schemas.microsoft.com/office/drawing/2014/main" id="{6CC00B2B-93B3-E9CF-3C80-FF343DE0DFD0}"/>
                    </a:ext>
                  </a:extLst>
                </p14:cNvPr>
                <p14:cNvContentPartPr/>
                <p14:nvPr/>
              </p14:nvContentPartPr>
              <p14:xfrm>
                <a:off x="4699580" y="5443668"/>
                <a:ext cx="414360" cy="474480"/>
              </p14:xfrm>
            </p:contentPart>
          </mc:Choice>
          <mc:Fallback xmlns="">
            <p:pic>
              <p:nvPicPr>
                <p:cNvPr id="18" name="Freihand 32">
                  <a:extLst>
                    <a:ext uri="{FF2B5EF4-FFF2-40B4-BE49-F238E27FC236}">
                      <a16:creationId xmlns:a16="http://schemas.microsoft.com/office/drawing/2014/main" id="{6CC00B2B-93B3-E9CF-3C80-FF343DE0DFD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36580" y="5380668"/>
                  <a:ext cx="540000" cy="60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9" name="Freihand 40">
                <a:extLst>
                  <a:ext uri="{FF2B5EF4-FFF2-40B4-BE49-F238E27FC236}">
                    <a16:creationId xmlns:a16="http://schemas.microsoft.com/office/drawing/2014/main" id="{368F4770-4820-20D5-3B41-14AB4BE79E5F}"/>
                  </a:ext>
                </a:extLst>
              </p14:cNvPr>
              <p14:cNvContentPartPr/>
              <p14:nvPr/>
            </p14:nvContentPartPr>
            <p14:xfrm>
              <a:off x="10538182" y="4856525"/>
              <a:ext cx="676800" cy="680040"/>
            </p14:xfrm>
          </p:contentPart>
        </mc:Choice>
        <mc:Fallback xmlns="">
          <p:pic>
            <p:nvPicPr>
              <p:cNvPr id="19" name="Freihand 40">
                <a:extLst>
                  <a:ext uri="{FF2B5EF4-FFF2-40B4-BE49-F238E27FC236}">
                    <a16:creationId xmlns:a16="http://schemas.microsoft.com/office/drawing/2014/main" id="{368F4770-4820-20D5-3B41-14AB4BE79E5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475148" y="4793525"/>
                <a:ext cx="802507" cy="80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0" name="Freihand 41">
                <a:extLst>
                  <a:ext uri="{FF2B5EF4-FFF2-40B4-BE49-F238E27FC236}">
                    <a16:creationId xmlns:a16="http://schemas.microsoft.com/office/drawing/2014/main" id="{459AC7A0-9198-11A6-CA78-E2918B07E67B}"/>
                  </a:ext>
                </a:extLst>
              </p14:cNvPr>
              <p14:cNvContentPartPr/>
              <p14:nvPr/>
            </p14:nvContentPartPr>
            <p14:xfrm>
              <a:off x="9462287" y="4091705"/>
              <a:ext cx="12600" cy="120960"/>
            </p14:xfrm>
          </p:contentPart>
        </mc:Choice>
        <mc:Fallback xmlns="">
          <p:pic>
            <p:nvPicPr>
              <p:cNvPr id="20" name="Freihand 41">
                <a:extLst>
                  <a:ext uri="{FF2B5EF4-FFF2-40B4-BE49-F238E27FC236}">
                    <a16:creationId xmlns:a16="http://schemas.microsoft.com/office/drawing/2014/main" id="{459AC7A0-9198-11A6-CA78-E2918B07E67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397434" y="4028705"/>
                <a:ext cx="141935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1" name="Freihand 42">
                <a:extLst>
                  <a:ext uri="{FF2B5EF4-FFF2-40B4-BE49-F238E27FC236}">
                    <a16:creationId xmlns:a16="http://schemas.microsoft.com/office/drawing/2014/main" id="{BA134E28-AFFC-EBE5-D604-E00E1331DA5D}"/>
                  </a:ext>
                </a:extLst>
              </p14:cNvPr>
              <p14:cNvContentPartPr/>
              <p14:nvPr/>
            </p14:nvContentPartPr>
            <p14:xfrm>
              <a:off x="9463544" y="4533457"/>
              <a:ext cx="17640" cy="102960"/>
            </p14:xfrm>
          </p:contentPart>
        </mc:Choice>
        <mc:Fallback xmlns="">
          <p:pic>
            <p:nvPicPr>
              <p:cNvPr id="21" name="Freihand 42">
                <a:extLst>
                  <a:ext uri="{FF2B5EF4-FFF2-40B4-BE49-F238E27FC236}">
                    <a16:creationId xmlns:a16="http://schemas.microsoft.com/office/drawing/2014/main" id="{BA134E28-AFFC-EBE5-D604-E00E1331DA5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400544" y="4470457"/>
                <a:ext cx="14328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2" name="Freihand 43">
                <a:extLst>
                  <a:ext uri="{FF2B5EF4-FFF2-40B4-BE49-F238E27FC236}">
                    <a16:creationId xmlns:a16="http://schemas.microsoft.com/office/drawing/2014/main" id="{39B17D14-638A-1C98-A8D3-DFF6B140ADA8}"/>
                  </a:ext>
                </a:extLst>
              </p14:cNvPr>
              <p14:cNvContentPartPr/>
              <p14:nvPr/>
            </p14:nvContentPartPr>
            <p14:xfrm>
              <a:off x="9436759" y="4963710"/>
              <a:ext cx="37800" cy="717840"/>
            </p14:xfrm>
          </p:contentPart>
        </mc:Choice>
        <mc:Fallback xmlns="">
          <p:pic>
            <p:nvPicPr>
              <p:cNvPr id="22" name="Freihand 43">
                <a:extLst>
                  <a:ext uri="{FF2B5EF4-FFF2-40B4-BE49-F238E27FC236}">
                    <a16:creationId xmlns:a16="http://schemas.microsoft.com/office/drawing/2014/main" id="{39B17D14-638A-1C98-A8D3-DFF6B140ADA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373759" y="4900710"/>
                <a:ext cx="163440" cy="84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3" name="Freihand 44">
                <a:extLst>
                  <a:ext uri="{FF2B5EF4-FFF2-40B4-BE49-F238E27FC236}">
                    <a16:creationId xmlns:a16="http://schemas.microsoft.com/office/drawing/2014/main" id="{CE442851-4373-62B9-E07E-2C5176F27106}"/>
                  </a:ext>
                </a:extLst>
              </p14:cNvPr>
              <p14:cNvContentPartPr/>
              <p14:nvPr/>
            </p14:nvContentPartPr>
            <p14:xfrm>
              <a:off x="9438253" y="6022066"/>
              <a:ext cx="32040" cy="559800"/>
            </p14:xfrm>
          </p:contentPart>
        </mc:Choice>
        <mc:Fallback xmlns="">
          <p:pic>
            <p:nvPicPr>
              <p:cNvPr id="23" name="Freihand 44">
                <a:extLst>
                  <a:ext uri="{FF2B5EF4-FFF2-40B4-BE49-F238E27FC236}">
                    <a16:creationId xmlns:a16="http://schemas.microsoft.com/office/drawing/2014/main" id="{CE442851-4373-62B9-E07E-2C5176F2710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375953" y="5959066"/>
                <a:ext cx="156284" cy="68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4" name="Freihand 45">
                <a:extLst>
                  <a:ext uri="{FF2B5EF4-FFF2-40B4-BE49-F238E27FC236}">
                    <a16:creationId xmlns:a16="http://schemas.microsoft.com/office/drawing/2014/main" id="{72D2D468-1E93-E420-1781-CF3ABBC9FEFD}"/>
                  </a:ext>
                </a:extLst>
              </p14:cNvPr>
              <p14:cNvContentPartPr/>
              <p14:nvPr/>
            </p14:nvContentPartPr>
            <p14:xfrm>
              <a:off x="6200927" y="4163736"/>
              <a:ext cx="24120" cy="126000"/>
            </p14:xfrm>
          </p:contentPart>
        </mc:Choice>
        <mc:Fallback xmlns="">
          <p:pic>
            <p:nvPicPr>
              <p:cNvPr id="24" name="Freihand 45">
                <a:extLst>
                  <a:ext uri="{FF2B5EF4-FFF2-40B4-BE49-F238E27FC236}">
                    <a16:creationId xmlns:a16="http://schemas.microsoft.com/office/drawing/2014/main" id="{72D2D468-1E93-E420-1781-CF3ABBC9FEF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137927" y="4100915"/>
                <a:ext cx="149760" cy="2512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5" name="Freihand 46">
                <a:extLst>
                  <a:ext uri="{FF2B5EF4-FFF2-40B4-BE49-F238E27FC236}">
                    <a16:creationId xmlns:a16="http://schemas.microsoft.com/office/drawing/2014/main" id="{6655384A-AE99-EA83-1D76-E1F179C46300}"/>
                  </a:ext>
                </a:extLst>
              </p14:cNvPr>
              <p14:cNvContentPartPr/>
              <p14:nvPr/>
            </p14:nvContentPartPr>
            <p14:xfrm>
              <a:off x="6191889" y="4617857"/>
              <a:ext cx="20520" cy="67680"/>
            </p14:xfrm>
          </p:contentPart>
        </mc:Choice>
        <mc:Fallback xmlns="">
          <p:pic>
            <p:nvPicPr>
              <p:cNvPr id="25" name="Freihand 46">
                <a:extLst>
                  <a:ext uri="{FF2B5EF4-FFF2-40B4-BE49-F238E27FC236}">
                    <a16:creationId xmlns:a16="http://schemas.microsoft.com/office/drawing/2014/main" id="{6655384A-AE99-EA83-1D76-E1F179C4630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128889" y="4554857"/>
                <a:ext cx="14616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6" name="Freihand 47">
                <a:extLst>
                  <a:ext uri="{FF2B5EF4-FFF2-40B4-BE49-F238E27FC236}">
                    <a16:creationId xmlns:a16="http://schemas.microsoft.com/office/drawing/2014/main" id="{12F2DFC4-CB7E-781E-94D7-E2077BCFC35E}"/>
                  </a:ext>
                </a:extLst>
              </p14:cNvPr>
              <p14:cNvContentPartPr/>
              <p14:nvPr/>
            </p14:nvContentPartPr>
            <p14:xfrm>
              <a:off x="6203264" y="5020606"/>
              <a:ext cx="66240" cy="654120"/>
            </p14:xfrm>
          </p:contentPart>
        </mc:Choice>
        <mc:Fallback xmlns="">
          <p:pic>
            <p:nvPicPr>
              <p:cNvPr id="26" name="Freihand 47">
                <a:extLst>
                  <a:ext uri="{FF2B5EF4-FFF2-40B4-BE49-F238E27FC236}">
                    <a16:creationId xmlns:a16="http://schemas.microsoft.com/office/drawing/2014/main" id="{12F2DFC4-CB7E-781E-94D7-E2077BCFC35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140264" y="4957641"/>
                <a:ext cx="191880" cy="7796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7" name="Freihand 48">
                <a:extLst>
                  <a:ext uri="{FF2B5EF4-FFF2-40B4-BE49-F238E27FC236}">
                    <a16:creationId xmlns:a16="http://schemas.microsoft.com/office/drawing/2014/main" id="{234DE509-44EE-2647-03DD-9F96903F59B7}"/>
                  </a:ext>
                </a:extLst>
              </p14:cNvPr>
              <p14:cNvContentPartPr/>
              <p14:nvPr/>
            </p14:nvContentPartPr>
            <p14:xfrm>
              <a:off x="6192518" y="5851656"/>
              <a:ext cx="108360" cy="660240"/>
            </p14:xfrm>
          </p:contentPart>
        </mc:Choice>
        <mc:Fallback xmlns="">
          <p:pic>
            <p:nvPicPr>
              <p:cNvPr id="27" name="Freihand 48">
                <a:extLst>
                  <a:ext uri="{FF2B5EF4-FFF2-40B4-BE49-F238E27FC236}">
                    <a16:creationId xmlns:a16="http://schemas.microsoft.com/office/drawing/2014/main" id="{234DE509-44EE-2647-03DD-9F96903F59B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129308" y="5788622"/>
                <a:ext cx="234419" cy="7859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8" name="Freihand 49">
                <a:extLst>
                  <a:ext uri="{FF2B5EF4-FFF2-40B4-BE49-F238E27FC236}">
                    <a16:creationId xmlns:a16="http://schemas.microsoft.com/office/drawing/2014/main" id="{3C74BF10-6853-3020-E803-7672EDFD5357}"/>
                  </a:ext>
                </a:extLst>
              </p14:cNvPr>
              <p14:cNvContentPartPr/>
              <p14:nvPr/>
            </p14:nvContentPartPr>
            <p14:xfrm>
              <a:off x="2518506" y="4105293"/>
              <a:ext cx="32400" cy="167040"/>
            </p14:xfrm>
          </p:contentPart>
        </mc:Choice>
        <mc:Fallback xmlns="">
          <p:pic>
            <p:nvPicPr>
              <p:cNvPr id="28" name="Freihand 49">
                <a:extLst>
                  <a:ext uri="{FF2B5EF4-FFF2-40B4-BE49-F238E27FC236}">
                    <a16:creationId xmlns:a16="http://schemas.microsoft.com/office/drawing/2014/main" id="{3C74BF10-6853-3020-E803-7672EDFD535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456198" y="4042293"/>
                <a:ext cx="156659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9" name="Freihand 50">
                <a:extLst>
                  <a:ext uri="{FF2B5EF4-FFF2-40B4-BE49-F238E27FC236}">
                    <a16:creationId xmlns:a16="http://schemas.microsoft.com/office/drawing/2014/main" id="{9857E7C3-9414-E0C4-7EF3-D0CA9BD3C4EC}"/>
                  </a:ext>
                </a:extLst>
              </p14:cNvPr>
              <p14:cNvContentPartPr/>
              <p14:nvPr/>
            </p14:nvContentPartPr>
            <p14:xfrm>
              <a:off x="2555946" y="4655373"/>
              <a:ext cx="7920" cy="69120"/>
            </p14:xfrm>
          </p:contentPart>
        </mc:Choice>
        <mc:Fallback xmlns="">
          <p:pic>
            <p:nvPicPr>
              <p:cNvPr id="29" name="Freihand 50">
                <a:extLst>
                  <a:ext uri="{FF2B5EF4-FFF2-40B4-BE49-F238E27FC236}">
                    <a16:creationId xmlns:a16="http://schemas.microsoft.com/office/drawing/2014/main" id="{9857E7C3-9414-E0C4-7EF3-D0CA9BD3C4E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492946" y="4592373"/>
                <a:ext cx="13356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0" name="Freihand 51">
                <a:extLst>
                  <a:ext uri="{FF2B5EF4-FFF2-40B4-BE49-F238E27FC236}">
                    <a16:creationId xmlns:a16="http://schemas.microsoft.com/office/drawing/2014/main" id="{403F92D5-E81D-086C-C679-D99EAC3596D7}"/>
                  </a:ext>
                </a:extLst>
              </p14:cNvPr>
              <p14:cNvContentPartPr/>
              <p14:nvPr/>
            </p14:nvContentPartPr>
            <p14:xfrm>
              <a:off x="2493252" y="5062656"/>
              <a:ext cx="16560" cy="516600"/>
            </p14:xfrm>
          </p:contentPart>
        </mc:Choice>
        <mc:Fallback xmlns="">
          <p:pic>
            <p:nvPicPr>
              <p:cNvPr id="30" name="Freihand 51">
                <a:extLst>
                  <a:ext uri="{FF2B5EF4-FFF2-40B4-BE49-F238E27FC236}">
                    <a16:creationId xmlns:a16="http://schemas.microsoft.com/office/drawing/2014/main" id="{403F92D5-E81D-086C-C679-D99EAC3596D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430252" y="4999612"/>
                <a:ext cx="142200" cy="6423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2" name="Freihand 53">
                <a:extLst>
                  <a:ext uri="{FF2B5EF4-FFF2-40B4-BE49-F238E27FC236}">
                    <a16:creationId xmlns:a16="http://schemas.microsoft.com/office/drawing/2014/main" id="{7DEA8F43-D903-E9A2-004E-B45B3EF014C7}"/>
                  </a:ext>
                </a:extLst>
              </p14:cNvPr>
              <p14:cNvContentPartPr/>
              <p14:nvPr/>
            </p14:nvContentPartPr>
            <p14:xfrm>
              <a:off x="7711970" y="4151572"/>
              <a:ext cx="428040" cy="380160"/>
            </p14:xfrm>
          </p:contentPart>
        </mc:Choice>
        <mc:Fallback xmlns="">
          <p:pic>
            <p:nvPicPr>
              <p:cNvPr id="32" name="Freihand 53">
                <a:extLst>
                  <a:ext uri="{FF2B5EF4-FFF2-40B4-BE49-F238E27FC236}">
                    <a16:creationId xmlns:a16="http://schemas.microsoft.com/office/drawing/2014/main" id="{7DEA8F43-D903-E9A2-004E-B45B3EF014C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648970" y="4088512"/>
                <a:ext cx="553680" cy="505919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uppieren 57">
            <a:extLst>
              <a:ext uri="{FF2B5EF4-FFF2-40B4-BE49-F238E27FC236}">
                <a16:creationId xmlns:a16="http://schemas.microsoft.com/office/drawing/2014/main" id="{A8F3FFA5-2260-39D0-7D92-0C65571AB7C3}"/>
              </a:ext>
            </a:extLst>
          </p:cNvPr>
          <p:cNvGrpSpPr/>
          <p:nvPr/>
        </p:nvGrpSpPr>
        <p:grpSpPr>
          <a:xfrm>
            <a:off x="7688930" y="4774372"/>
            <a:ext cx="428400" cy="1145160"/>
            <a:chOff x="7067660" y="4280148"/>
            <a:chExt cx="428400" cy="11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Freihand 54">
                  <a:extLst>
                    <a:ext uri="{FF2B5EF4-FFF2-40B4-BE49-F238E27FC236}">
                      <a16:creationId xmlns:a16="http://schemas.microsoft.com/office/drawing/2014/main" id="{DED7630A-CCEC-8079-462E-932D7AA2F30B}"/>
                    </a:ext>
                  </a:extLst>
                </p14:cNvPr>
                <p14:cNvContentPartPr/>
                <p14:nvPr/>
              </p14:nvContentPartPr>
              <p14:xfrm>
                <a:off x="7067660" y="4280148"/>
                <a:ext cx="422640" cy="452880"/>
              </p14:xfrm>
            </p:contentPart>
          </mc:Choice>
          <mc:Fallback xmlns="">
            <p:pic>
              <p:nvPicPr>
                <p:cNvPr id="34" name="Freihand 54">
                  <a:extLst>
                    <a:ext uri="{FF2B5EF4-FFF2-40B4-BE49-F238E27FC236}">
                      <a16:creationId xmlns:a16="http://schemas.microsoft.com/office/drawing/2014/main" id="{DED7630A-CCEC-8079-462E-932D7AA2F30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04660" y="4217148"/>
                  <a:ext cx="54828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5" name="Freihand 55">
                  <a:extLst>
                    <a:ext uri="{FF2B5EF4-FFF2-40B4-BE49-F238E27FC236}">
                      <a16:creationId xmlns:a16="http://schemas.microsoft.com/office/drawing/2014/main" id="{5A9124B9-D373-E2F5-9DF3-B584C90261D9}"/>
                    </a:ext>
                  </a:extLst>
                </p14:cNvPr>
                <p14:cNvContentPartPr/>
                <p14:nvPr/>
              </p14:nvContentPartPr>
              <p14:xfrm>
                <a:off x="7089620" y="4899708"/>
                <a:ext cx="406440" cy="525600"/>
              </p14:xfrm>
            </p:contentPart>
          </mc:Choice>
          <mc:Fallback xmlns="">
            <p:pic>
              <p:nvPicPr>
                <p:cNvPr id="35" name="Freihand 55">
                  <a:extLst>
                    <a:ext uri="{FF2B5EF4-FFF2-40B4-BE49-F238E27FC236}">
                      <a16:creationId xmlns:a16="http://schemas.microsoft.com/office/drawing/2014/main" id="{5A9124B9-D373-E2F5-9DF3-B584C90261D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26620" y="4836708"/>
                  <a:ext cx="532080" cy="65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6" name="Freihand 56">
                <a:extLst>
                  <a:ext uri="{FF2B5EF4-FFF2-40B4-BE49-F238E27FC236}">
                    <a16:creationId xmlns:a16="http://schemas.microsoft.com/office/drawing/2014/main" id="{40ABF0BF-E173-C0A1-C3B0-A32E01D363A6}"/>
                  </a:ext>
                </a:extLst>
              </p14:cNvPr>
              <p14:cNvContentPartPr/>
              <p14:nvPr/>
            </p14:nvContentPartPr>
            <p14:xfrm>
              <a:off x="7724930" y="6138052"/>
              <a:ext cx="366840" cy="408240"/>
            </p14:xfrm>
          </p:contentPart>
        </mc:Choice>
        <mc:Fallback xmlns="">
          <p:pic>
            <p:nvPicPr>
              <p:cNvPr id="36" name="Freihand 56">
                <a:extLst>
                  <a:ext uri="{FF2B5EF4-FFF2-40B4-BE49-F238E27FC236}">
                    <a16:creationId xmlns:a16="http://schemas.microsoft.com/office/drawing/2014/main" id="{40ABF0BF-E173-C0A1-C3B0-A32E01D363A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661930" y="6075052"/>
                <a:ext cx="492480" cy="53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6" name="Freihand 47">
                <a:extLst>
                  <a:ext uri="{FF2B5EF4-FFF2-40B4-BE49-F238E27FC236}">
                    <a16:creationId xmlns:a16="http://schemas.microsoft.com/office/drawing/2014/main" id="{D00103B8-964D-AB25-D50E-B362913F1C7A}"/>
                  </a:ext>
                </a:extLst>
              </p14:cNvPr>
              <p14:cNvContentPartPr/>
              <p14:nvPr/>
            </p14:nvContentPartPr>
            <p14:xfrm>
              <a:off x="2503553" y="5862815"/>
              <a:ext cx="66240" cy="654120"/>
            </p14:xfrm>
          </p:contentPart>
        </mc:Choice>
        <mc:Fallback xmlns="">
          <p:pic>
            <p:nvPicPr>
              <p:cNvPr id="6" name="Freihand 47">
                <a:extLst>
                  <a:ext uri="{FF2B5EF4-FFF2-40B4-BE49-F238E27FC236}">
                    <a16:creationId xmlns:a16="http://schemas.microsoft.com/office/drawing/2014/main" id="{D00103B8-964D-AB25-D50E-B362913F1C7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440553" y="5799850"/>
                <a:ext cx="191880" cy="7796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7" name="Freihand 19">
                <a:extLst>
                  <a:ext uri="{FF2B5EF4-FFF2-40B4-BE49-F238E27FC236}">
                    <a16:creationId xmlns:a16="http://schemas.microsoft.com/office/drawing/2014/main" id="{037EAF3A-2753-0B2F-1D62-429D40995666}"/>
                  </a:ext>
                </a:extLst>
              </p14:cNvPr>
              <p14:cNvContentPartPr/>
              <p14:nvPr/>
            </p14:nvContentPartPr>
            <p14:xfrm rot="10571170">
              <a:off x="1599363" y="4297210"/>
              <a:ext cx="256320" cy="2086560"/>
            </p14:xfrm>
          </p:contentPart>
        </mc:Choice>
        <mc:Fallback xmlns="">
          <p:pic>
            <p:nvPicPr>
              <p:cNvPr id="7" name="Freihand 19">
                <a:extLst>
                  <a:ext uri="{FF2B5EF4-FFF2-40B4-BE49-F238E27FC236}">
                    <a16:creationId xmlns:a16="http://schemas.microsoft.com/office/drawing/2014/main" id="{037EAF3A-2753-0B2F-1D62-429D409956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571170">
                <a:off x="1536363" y="4234210"/>
                <a:ext cx="381960" cy="221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9557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BD09AFB-7029-C3D1-7CFB-D4A69C1A67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55496" y="-399175"/>
            <a:ext cx="12702989" cy="235771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9D222B-9DB5-9930-060C-7EDCD9938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37311" y="-1283855"/>
            <a:ext cx="13466618" cy="31094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8BBD9-4B89-AD49-9EAC-ED8B601C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964" y="116901"/>
            <a:ext cx="10515600" cy="1325563"/>
          </a:xfrm>
        </p:spPr>
        <p:txBody>
          <a:bodyPr/>
          <a:lstStyle/>
          <a:p>
            <a:pPr algn="ctr"/>
            <a:r>
              <a:rPr lang="en-US" err="1">
                <a:solidFill>
                  <a:schemeClr val="bg1"/>
                </a:solidFill>
                <a:ea typeface="+mj-lt"/>
                <a:cs typeface="+mj-lt"/>
              </a:rPr>
              <a:t>Neuronales</a:t>
            </a:r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en-US" err="1">
                <a:solidFill>
                  <a:schemeClr val="bg1"/>
                </a:solidFill>
                <a:ea typeface="+mj-lt"/>
                <a:cs typeface="+mj-lt"/>
              </a:rPr>
              <a:t>Netz</a:t>
            </a:r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en-US" err="1">
                <a:solidFill>
                  <a:schemeClr val="bg1"/>
                </a:solidFill>
                <a:ea typeface="+mj-lt"/>
                <a:cs typeface="+mj-lt"/>
              </a:rPr>
              <a:t>trainieren</a:t>
            </a:r>
            <a:br>
              <a:rPr lang="en-US" sz="3200">
                <a:ea typeface="+mj-lt"/>
                <a:cs typeface="+mj-lt"/>
              </a:rPr>
            </a:br>
            <a:r>
              <a:rPr lang="en-US" sz="3200">
                <a:solidFill>
                  <a:schemeClr val="bg1"/>
                </a:solidFill>
                <a:ea typeface="+mj-lt"/>
                <a:cs typeface="+mj-lt"/>
              </a:rPr>
              <a:t>Text Vectorization Layer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678A5095-075C-47BD-C25D-CD4DDF6CE231}"/>
              </a:ext>
            </a:extLst>
          </p:cNvPr>
          <p:cNvSpPr txBox="1">
            <a:spLocks/>
          </p:cNvSpPr>
          <p:nvPr/>
        </p:nvSpPr>
        <p:spPr>
          <a:xfrm>
            <a:off x="564445" y="2250141"/>
            <a:ext cx="11063109" cy="2267481"/>
          </a:xfrm>
          <a:prstGeom prst="rect">
            <a:avLst/>
          </a:prstGeom>
          <a:solidFill>
            <a:srgbClr val="1E1E1E"/>
          </a:solidFill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err="1">
                <a:solidFill>
                  <a:srgbClr val="D4D4D4"/>
                </a:solidFill>
                <a:latin typeface="Courier New"/>
                <a:cs typeface="Courier New"/>
              </a:rPr>
              <a:t>vocab_size</a:t>
            </a:r>
            <a:r>
              <a:rPr lang="de-DE">
                <a:solidFill>
                  <a:srgbClr val="D4D4D4"/>
                </a:solidFill>
                <a:latin typeface="Courier New"/>
                <a:cs typeface="Courier New"/>
              </a:rPr>
              <a:t> = </a:t>
            </a:r>
            <a:r>
              <a:rPr lang="de-DE">
                <a:solidFill>
                  <a:srgbClr val="B5CEA8"/>
                </a:solidFill>
                <a:latin typeface="Courier New"/>
                <a:cs typeface="Courier New"/>
              </a:rPr>
              <a:t>1000</a:t>
            </a:r>
            <a:endParaRPr lang="de-DE">
              <a:solidFill>
                <a:srgbClr val="D4D4D4"/>
              </a:solidFill>
              <a:latin typeface="Courier New"/>
              <a:cs typeface="Courier New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e-DE" err="1">
                <a:solidFill>
                  <a:srgbClr val="D4D4D4"/>
                </a:solidFill>
                <a:latin typeface="Courier New"/>
                <a:cs typeface="Courier New"/>
              </a:rPr>
              <a:t>text_vec_layer</a:t>
            </a:r>
            <a:r>
              <a:rPr lang="de-DE">
                <a:solidFill>
                  <a:srgbClr val="D4D4D4"/>
                </a:solidFill>
                <a:latin typeface="Courier New"/>
                <a:cs typeface="Courier New"/>
              </a:rPr>
              <a:t> = </a:t>
            </a:r>
            <a:r>
              <a:rPr lang="de-DE" err="1">
                <a:solidFill>
                  <a:srgbClr val="D4D4D4"/>
                </a:solidFill>
                <a:latin typeface="Courier New"/>
                <a:cs typeface="Courier New"/>
              </a:rPr>
              <a:t>tf.keras.layers.TextVectorization</a:t>
            </a:r>
            <a:r>
              <a:rPr lang="de-DE">
                <a:solidFill>
                  <a:srgbClr val="DCDCDC"/>
                </a:solidFill>
                <a:latin typeface="Courier New"/>
                <a:cs typeface="Courier New"/>
              </a:rPr>
              <a:t>(</a:t>
            </a:r>
            <a:br>
              <a:rPr lang="de-DE">
                <a:solidFill>
                  <a:srgbClr val="DCDCDC"/>
                </a:solidFill>
                <a:latin typeface="Courier New"/>
                <a:cs typeface="Courier New"/>
              </a:rPr>
            </a:br>
            <a:r>
              <a:rPr lang="de-DE">
                <a:solidFill>
                  <a:srgbClr val="DCDCDC"/>
                </a:solidFill>
                <a:latin typeface="Courier New"/>
                <a:cs typeface="Courier New"/>
              </a:rPr>
              <a:t>	</a:t>
            </a:r>
            <a:r>
              <a:rPr lang="de-DE" err="1">
                <a:solidFill>
                  <a:srgbClr val="D4D4D4"/>
                </a:solidFill>
                <a:latin typeface="Courier New"/>
                <a:cs typeface="Courier New"/>
              </a:rPr>
              <a:t>max_tokens</a:t>
            </a:r>
            <a:r>
              <a:rPr lang="de-DE">
                <a:solidFill>
                  <a:srgbClr val="D4D4D4"/>
                </a:solidFill>
                <a:latin typeface="Courier New"/>
                <a:cs typeface="Courier New"/>
              </a:rPr>
              <a:t>=</a:t>
            </a:r>
            <a:r>
              <a:rPr lang="de-DE" err="1">
                <a:solidFill>
                  <a:srgbClr val="D4D4D4"/>
                </a:solidFill>
                <a:latin typeface="Courier New"/>
                <a:cs typeface="Courier New"/>
              </a:rPr>
              <a:t>vocab_size</a:t>
            </a:r>
            <a:r>
              <a:rPr lang="de-DE">
                <a:solidFill>
                  <a:srgbClr val="DCDCDC"/>
                </a:solidFill>
                <a:latin typeface="Courier New"/>
                <a:cs typeface="Courier New"/>
              </a:rPr>
              <a:t>)</a:t>
            </a:r>
            <a:endParaRPr lang="de-DE">
              <a:solidFill>
                <a:srgbClr val="D4D4D4"/>
              </a:solidFill>
              <a:latin typeface="Courier New"/>
              <a:cs typeface="Courier New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e-DE" err="1">
                <a:solidFill>
                  <a:srgbClr val="D4D4D4"/>
                </a:solidFill>
                <a:latin typeface="Courier New"/>
                <a:cs typeface="Courier New"/>
              </a:rPr>
              <a:t>text_vec_layer.adapt</a:t>
            </a:r>
            <a:r>
              <a:rPr lang="de-DE">
                <a:solidFill>
                  <a:srgbClr val="DCDCDC"/>
                </a:solidFill>
                <a:latin typeface="Courier New"/>
                <a:cs typeface="Courier New"/>
              </a:rPr>
              <a:t>(</a:t>
            </a:r>
            <a:r>
              <a:rPr lang="de-DE" err="1">
                <a:solidFill>
                  <a:srgbClr val="D4D4D4"/>
                </a:solidFill>
                <a:latin typeface="Courier New"/>
                <a:cs typeface="Courier New"/>
              </a:rPr>
              <a:t>train_set.</a:t>
            </a:r>
            <a:r>
              <a:rPr lang="de-DE" err="1">
                <a:solidFill>
                  <a:srgbClr val="DCDCAA"/>
                </a:solidFill>
                <a:latin typeface="Courier New"/>
                <a:cs typeface="Courier New"/>
              </a:rPr>
              <a:t>map</a:t>
            </a:r>
            <a:r>
              <a:rPr lang="de-DE">
                <a:solidFill>
                  <a:srgbClr val="DCDCDC"/>
                </a:solidFill>
                <a:latin typeface="Courier New"/>
                <a:cs typeface="Courier New"/>
              </a:rPr>
              <a:t>(</a:t>
            </a:r>
            <a:br>
              <a:rPr lang="de-DE">
                <a:solidFill>
                  <a:srgbClr val="DCDCDC"/>
                </a:solidFill>
                <a:latin typeface="Courier New"/>
                <a:cs typeface="Courier New"/>
              </a:rPr>
            </a:br>
            <a:r>
              <a:rPr lang="de-DE">
                <a:solidFill>
                  <a:srgbClr val="569CD6"/>
                </a:solidFill>
                <a:latin typeface="Courier New"/>
                <a:cs typeface="Courier New"/>
              </a:rPr>
              <a:t>  	</a:t>
            </a:r>
            <a:r>
              <a:rPr lang="de-DE" err="1">
                <a:solidFill>
                  <a:srgbClr val="569CD6"/>
                </a:solidFill>
                <a:latin typeface="Courier New"/>
                <a:cs typeface="Courier New"/>
              </a:rPr>
              <a:t>lambda</a:t>
            </a:r>
            <a:r>
              <a:rPr lang="de-DE">
                <a:solidFill>
                  <a:srgbClr val="D4D4D4"/>
                </a:solidFill>
                <a:latin typeface="Courier New"/>
                <a:cs typeface="Courier New"/>
              </a:rPr>
              <a:t> </a:t>
            </a:r>
            <a:r>
              <a:rPr lang="de-DE" err="1">
                <a:solidFill>
                  <a:srgbClr val="D4D4D4"/>
                </a:solidFill>
                <a:latin typeface="Courier New"/>
                <a:cs typeface="Courier New"/>
              </a:rPr>
              <a:t>reviews</a:t>
            </a:r>
            <a:r>
              <a:rPr lang="de-DE">
                <a:solidFill>
                  <a:srgbClr val="DCDCDC"/>
                </a:solidFill>
                <a:latin typeface="Courier New"/>
                <a:cs typeface="Courier New"/>
              </a:rPr>
              <a:t>,</a:t>
            </a:r>
            <a:r>
              <a:rPr lang="de-DE">
                <a:solidFill>
                  <a:srgbClr val="D4D4D4"/>
                </a:solidFill>
                <a:latin typeface="Courier New"/>
                <a:cs typeface="Courier New"/>
              </a:rPr>
              <a:t> </a:t>
            </a:r>
            <a:r>
              <a:rPr lang="de-DE" err="1">
                <a:solidFill>
                  <a:srgbClr val="D4D4D4"/>
                </a:solidFill>
                <a:latin typeface="Courier New"/>
                <a:cs typeface="Courier New"/>
              </a:rPr>
              <a:t>labels</a:t>
            </a:r>
            <a:r>
              <a:rPr lang="de-DE" err="1">
                <a:solidFill>
                  <a:srgbClr val="DCDCDC"/>
                </a:solidFill>
                <a:latin typeface="Courier New"/>
                <a:cs typeface="Courier New"/>
              </a:rPr>
              <a:t>:</a:t>
            </a:r>
            <a:r>
              <a:rPr lang="de-DE" err="1">
                <a:solidFill>
                  <a:srgbClr val="D4D4D4"/>
                </a:solidFill>
                <a:latin typeface="Courier New"/>
                <a:cs typeface="Courier New"/>
              </a:rPr>
              <a:t>reviews</a:t>
            </a:r>
            <a:r>
              <a:rPr lang="de-DE">
                <a:solidFill>
                  <a:srgbClr val="DCDCDC"/>
                </a:solidFill>
                <a:latin typeface="Courier New"/>
                <a:cs typeface="Courier New"/>
              </a:rPr>
              <a:t>))</a:t>
            </a:r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552E3D-0259-5DFB-268A-8FC984601CD8}"/>
              </a:ext>
            </a:extLst>
          </p:cNvPr>
          <p:cNvSpPr txBox="1"/>
          <p:nvPr/>
        </p:nvSpPr>
        <p:spPr>
          <a:xfrm>
            <a:off x="4782753" y="5333999"/>
            <a:ext cx="2626488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de-DE" dirty="0"/>
              <a:t>Standard Methoden:</a:t>
            </a:r>
          </a:p>
          <a:p>
            <a:r>
              <a:rPr lang="de-DE" dirty="0"/>
              <a:t>Tokenization: Word Level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954341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BD09AFB-7029-C3D1-7CFB-D4A69C1A67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55496" y="-399175"/>
            <a:ext cx="12702989" cy="235771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9D222B-9DB5-9930-060C-7EDCD9938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37311" y="-1283855"/>
            <a:ext cx="13466618" cy="31094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8BBD9-4B89-AD49-9EAC-ED8B601C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964" y="116901"/>
            <a:ext cx="10515600" cy="1325563"/>
          </a:xfrm>
        </p:spPr>
        <p:txBody>
          <a:bodyPr/>
          <a:lstStyle/>
          <a:p>
            <a:pPr algn="ctr"/>
            <a:r>
              <a:rPr lang="en-US" sz="4400" err="1">
                <a:solidFill>
                  <a:schemeClr val="bg1"/>
                </a:solidFill>
              </a:rPr>
              <a:t>Neuronales</a:t>
            </a:r>
            <a:r>
              <a:rPr lang="en-US" sz="4400">
                <a:solidFill>
                  <a:schemeClr val="bg1"/>
                </a:solidFill>
              </a:rPr>
              <a:t> Netz trainieren</a:t>
            </a:r>
            <a:br>
              <a:rPr lang="en-US" sz="4400"/>
            </a:br>
            <a:r>
              <a:rPr lang="en-US" sz="3200">
                <a:solidFill>
                  <a:schemeClr val="bg1"/>
                </a:solidFill>
              </a:rPr>
              <a:t>Embedding Layer</a:t>
            </a:r>
            <a:endParaRPr lang="en-DE" sz="32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60708-0878-3722-246E-7F79C843F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174" y="2124364"/>
            <a:ext cx="10515600" cy="6035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sz="2800" b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tf.keras.layers.Embedding</a:t>
            </a:r>
            <a:r>
              <a:rPr lang="de-DE" sz="2800" b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(</a:t>
            </a:r>
            <a:r>
              <a:rPr lang="de-DE" sz="2800" b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vocab_size</a:t>
            </a:r>
            <a:r>
              <a:rPr lang="de-DE" sz="2800" b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,</a:t>
            </a:r>
            <a:r>
              <a:rPr lang="de-DE" sz="2800" b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embed_size</a:t>
            </a:r>
            <a:r>
              <a:rPr lang="de-DE" sz="2800" b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)</a:t>
            </a:r>
          </a:p>
          <a:p>
            <a:pPr marL="0" indent="0">
              <a:buNone/>
            </a:pPr>
            <a:endParaRPr lang="de-DE">
              <a:latin typeface="Courier New" panose="02070309020205020404" pitchFamily="49" charset="0"/>
              <a:cs typeface="Courier New"/>
            </a:endParaRPr>
          </a:p>
          <a:p>
            <a:pPr marL="0" indent="0">
              <a:buNone/>
            </a:pPr>
            <a:endParaRPr lang="de-DE">
              <a:latin typeface="Courier New"/>
              <a:cs typeface="Courier New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E6073B-3CC8-CB7E-2F57-89B811BE823F}"/>
              </a:ext>
            </a:extLst>
          </p:cNvPr>
          <p:cNvSpPr txBox="1"/>
          <p:nvPr/>
        </p:nvSpPr>
        <p:spPr>
          <a:xfrm>
            <a:off x="558895" y="3196389"/>
            <a:ext cx="11095121" cy="18912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Calibri"/>
              <a:buChar char="-"/>
            </a:pPr>
            <a:r>
              <a:rPr lang="de-DE" sz="1700">
                <a:latin typeface="Aptos"/>
                <a:cs typeface="Courier New"/>
              </a:rPr>
              <a:t>Eine Reihe je Token im </a:t>
            </a:r>
            <a:r>
              <a:rPr lang="de-DE" sz="1700" err="1">
                <a:latin typeface="Aptos"/>
                <a:cs typeface="Courier New"/>
              </a:rPr>
              <a:t>vocabulary</a:t>
            </a:r>
            <a:endParaRPr lang="en-US" sz="1700">
              <a:latin typeface="Aptos"/>
              <a:cs typeface="Courier New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Calibri"/>
              <a:buChar char="-"/>
            </a:pPr>
            <a:r>
              <a:rPr lang="de-DE" sz="1700">
                <a:latin typeface="Aptos"/>
                <a:cs typeface="Courier New"/>
              </a:rPr>
              <a:t>Eine Spalte je Embedding-Dimension</a:t>
            </a:r>
            <a:endParaRPr lang="en-US" sz="1700">
              <a:latin typeface="Aptos"/>
              <a:cs typeface="Courier New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Calibri"/>
              <a:buChar char="-"/>
            </a:pPr>
            <a:r>
              <a:rPr lang="de-DE" sz="1700">
                <a:latin typeface="Aptos"/>
                <a:cs typeface="Courier New"/>
              </a:rPr>
              <a:t>Matrix von </a:t>
            </a:r>
            <a:r>
              <a:rPr lang="de-DE" sz="1700" err="1">
                <a:latin typeface="Aptos"/>
                <a:cs typeface="Courier New"/>
              </a:rPr>
              <a:t>vocab_size</a:t>
            </a:r>
            <a:r>
              <a:rPr lang="de-DE" sz="1700">
                <a:latin typeface="Aptos"/>
                <a:cs typeface="Courier New"/>
              </a:rPr>
              <a:t> x </a:t>
            </a:r>
            <a:r>
              <a:rPr lang="de-DE" sz="1700" err="1">
                <a:latin typeface="Aptos"/>
                <a:cs typeface="Courier New"/>
              </a:rPr>
              <a:t>embed_size</a:t>
            </a:r>
            <a:endParaRPr lang="de-DE" sz="1700">
              <a:latin typeface="Aptos"/>
              <a:cs typeface="Courier New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de-DE" sz="1700">
                <a:latin typeface="Aptos"/>
                <a:cs typeface="Courier New"/>
              </a:rPr>
              <a:t>Die Dimension des Vokabulars wird </a:t>
            </a:r>
            <a:r>
              <a:rPr lang="de-DE" sz="1700" dirty="0">
                <a:latin typeface="Aptos"/>
                <a:cs typeface="Courier New"/>
              </a:rPr>
              <a:t>um </a:t>
            </a:r>
            <a:r>
              <a:rPr lang="de-DE" sz="1700">
                <a:latin typeface="Aptos"/>
                <a:cs typeface="Courier New"/>
              </a:rPr>
              <a:t>die Dimensionen des </a:t>
            </a:r>
            <a:r>
              <a:rPr lang="de-DE" sz="1700" err="1">
                <a:latin typeface="Aptos"/>
                <a:cs typeface="Courier New"/>
              </a:rPr>
              <a:t>Embeddings</a:t>
            </a:r>
            <a:r>
              <a:rPr lang="de-DE" sz="1700">
                <a:latin typeface="Aptos"/>
                <a:cs typeface="Courier New"/>
              </a:rPr>
              <a:t> erweitert und Verknüpfungen zwischen Wörtern werden geschaffen</a:t>
            </a:r>
            <a:br>
              <a:rPr lang="de-DE" sz="1700">
                <a:latin typeface="Aptos"/>
                <a:cs typeface="Courier New"/>
              </a:rPr>
            </a:br>
            <a:r>
              <a:rPr lang="de-DE" sz="1700">
                <a:latin typeface="Aptos"/>
                <a:cs typeface="Courier New"/>
              </a:rPr>
              <a:t>(Synonyme, semantisch-,thematische Zusammenhänge und Gegensätze)</a:t>
            </a:r>
            <a:endParaRPr lang="en-US" sz="1700">
              <a:latin typeface="Aptos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985190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BD09AFB-7029-C3D1-7CFB-D4A69C1A67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55496" y="-399175"/>
            <a:ext cx="12702989" cy="235771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9D222B-9DB5-9930-060C-7EDCD9938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37311" y="-1283855"/>
            <a:ext cx="13466618" cy="31094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8BBD9-4B89-AD49-9EAC-ED8B601C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964" y="116901"/>
            <a:ext cx="10515600" cy="1325563"/>
          </a:xfrm>
        </p:spPr>
        <p:txBody>
          <a:bodyPr/>
          <a:lstStyle/>
          <a:p>
            <a:pPr algn="ctr"/>
            <a:r>
              <a:rPr lang="en-US" sz="4400" err="1">
                <a:solidFill>
                  <a:schemeClr val="bg1"/>
                </a:solidFill>
              </a:rPr>
              <a:t>Neuronales</a:t>
            </a:r>
            <a:r>
              <a:rPr lang="en-US" sz="4400">
                <a:solidFill>
                  <a:schemeClr val="bg1"/>
                </a:solidFill>
              </a:rPr>
              <a:t> Netz trainieren</a:t>
            </a:r>
            <a:br>
              <a:rPr lang="en-US"/>
            </a:br>
            <a:r>
              <a:rPr lang="en-US" sz="3200">
                <a:solidFill>
                  <a:schemeClr val="bg1"/>
                </a:solidFill>
              </a:rPr>
              <a:t>GRU-Layer (“Gated recurrent unit”)</a:t>
            </a:r>
            <a:endParaRPr lang="en-DE" sz="32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60708-0878-3722-246E-7F79C843F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4364"/>
            <a:ext cx="10515600" cy="40525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sz="2600" b="0" err="1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tf.keras.layers.GRU</a:t>
            </a:r>
            <a:r>
              <a:rPr lang="de-DE" sz="2600" b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(</a:t>
            </a:r>
            <a:r>
              <a:rPr lang="de-DE" sz="2600" b="0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128</a:t>
            </a:r>
            <a:r>
              <a:rPr lang="de-DE" sz="2600" b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sz="2400"/>
          </a:p>
          <a:p>
            <a:r>
              <a:rPr lang="de-DE" sz="1700"/>
              <a:t>Erstmalig vorgestellt durch </a:t>
            </a:r>
            <a:r>
              <a:rPr lang="de-DE" sz="1700" err="1"/>
              <a:t>Kyunghyun</a:t>
            </a:r>
            <a:r>
              <a:rPr lang="de-DE" sz="1700"/>
              <a:t> Cho et al. 2014</a:t>
            </a:r>
          </a:p>
          <a:p>
            <a:r>
              <a:rPr lang="de-DE" sz="1700"/>
              <a:t>Eine vereinfachte Variante der LSTM-Zellen</a:t>
            </a:r>
            <a:br>
              <a:rPr lang="de-DE" sz="1700"/>
            </a:br>
            <a:r>
              <a:rPr lang="de-DE" sz="1700"/>
              <a:t>(„Long </a:t>
            </a:r>
            <a:r>
              <a:rPr lang="de-DE" sz="1700" err="1"/>
              <a:t>short</a:t>
            </a:r>
            <a:r>
              <a:rPr lang="de-DE" sz="1700"/>
              <a:t>-term </a:t>
            </a:r>
            <a:r>
              <a:rPr lang="de-DE" sz="1700" err="1"/>
              <a:t>memory</a:t>
            </a:r>
            <a:r>
              <a:rPr lang="de-DE" sz="1700"/>
              <a:t>“)</a:t>
            </a:r>
          </a:p>
          <a:p>
            <a:r>
              <a:rPr lang="de-DE" sz="1700"/>
              <a:t>Erkennt und merkt sich </a:t>
            </a:r>
            <a:r>
              <a:rPr lang="de-DE" sz="1700">
                <a:latin typeface="Aptos"/>
              </a:rPr>
              <a:t>wichtigen</a:t>
            </a:r>
            <a:r>
              <a:rPr lang="de-DE" sz="1700"/>
              <a:t> Input, vergisst ihn wenn nötig</a:t>
            </a:r>
          </a:p>
          <a:p>
            <a:r>
              <a:rPr lang="de-DE" sz="1700"/>
              <a:t>Sie sind erfolgreich im Erfassen von Patterns in langen Sequenzen wie</a:t>
            </a:r>
            <a:br>
              <a:rPr lang="de-DE" sz="1700"/>
            </a:br>
            <a:r>
              <a:rPr lang="de-DE" sz="1700"/>
              <a:t>Zeitreihen, Texten und Audio</a:t>
            </a:r>
          </a:p>
          <a:p>
            <a:r>
              <a:rPr lang="de-DE" sz="1700"/>
              <a:t>Schwierigkeiten bei Sequenzen von 100 Zeitschritten</a:t>
            </a:r>
          </a:p>
          <a:p>
            <a:endParaRPr lang="en-DE"/>
          </a:p>
        </p:txBody>
      </p:sp>
      <p:pic>
        <p:nvPicPr>
          <p:cNvPr id="6" name="Grafik 6" descr="Ein Bild, das Diagramm, Text, Screenshot, Plan enthält.&#10;&#10;Automatisch generierte Beschreibung">
            <a:extLst>
              <a:ext uri="{FF2B5EF4-FFF2-40B4-BE49-F238E27FC236}">
                <a16:creationId xmlns:a16="http://schemas.microsoft.com/office/drawing/2014/main" id="{E08F5784-6989-0E4D-3D7D-EC7FDC7556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78" t="3416" r="10189" b="4278"/>
          <a:stretch/>
        </p:blipFill>
        <p:spPr>
          <a:xfrm>
            <a:off x="7620000" y="2989711"/>
            <a:ext cx="4177768" cy="3467054"/>
          </a:xfrm>
          <a:prstGeom prst="rect">
            <a:avLst/>
          </a:prstGeom>
        </p:spPr>
      </p:pic>
      <p:sp>
        <p:nvSpPr>
          <p:cNvPr id="7" name="Textfeld 5">
            <a:extLst>
              <a:ext uri="{FF2B5EF4-FFF2-40B4-BE49-F238E27FC236}">
                <a16:creationId xmlns:a16="http://schemas.microsoft.com/office/drawing/2014/main" id="{50401C19-1658-E620-D5F3-7ABAFE428610}"/>
              </a:ext>
            </a:extLst>
          </p:cNvPr>
          <p:cNvSpPr txBox="1"/>
          <p:nvPr/>
        </p:nvSpPr>
        <p:spPr>
          <a:xfrm>
            <a:off x="8315739" y="6444054"/>
            <a:ext cx="28922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/>
              <a:t>Gru-Zelle: </a:t>
            </a:r>
            <a:r>
              <a:rPr lang="de-DE" sz="1100" err="1"/>
              <a:t>Geron</a:t>
            </a:r>
            <a:r>
              <a:rPr lang="de-DE" sz="1100"/>
              <a:t>, </a:t>
            </a:r>
            <a:r>
              <a:rPr lang="de-DE" sz="1100" err="1"/>
              <a:t>chapter</a:t>
            </a:r>
            <a:r>
              <a:rPr lang="de-DE" sz="1100"/>
              <a:t> 15, </a:t>
            </a:r>
            <a:r>
              <a:rPr lang="de-DE" sz="1100" err="1"/>
              <a:t>page</a:t>
            </a:r>
            <a:r>
              <a:rPr lang="de-DE" sz="1100"/>
              <a:t> 570</a:t>
            </a:r>
          </a:p>
        </p:txBody>
      </p:sp>
    </p:spTree>
    <p:extLst>
      <p:ext uri="{BB962C8B-B14F-4D97-AF65-F5344CB8AC3E}">
        <p14:creationId xmlns:p14="http://schemas.microsoft.com/office/powerpoint/2010/main" val="4219613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BD09AFB-7029-C3D1-7CFB-D4A69C1A67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55496" y="-399175"/>
            <a:ext cx="12702989" cy="235771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9D222B-9DB5-9930-060C-7EDCD9938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37311" y="-1283855"/>
            <a:ext cx="13466618" cy="31094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8BBD9-4B89-AD49-9EAC-ED8B601C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964" y="116901"/>
            <a:ext cx="10515600" cy="1325563"/>
          </a:xfrm>
        </p:spPr>
        <p:txBody>
          <a:bodyPr/>
          <a:lstStyle/>
          <a:p>
            <a:pPr algn="ctr"/>
            <a:r>
              <a:rPr lang="en-US" sz="4400" err="1">
                <a:solidFill>
                  <a:schemeClr val="bg1"/>
                </a:solidFill>
              </a:rPr>
              <a:t>Neuronales</a:t>
            </a:r>
            <a:r>
              <a:rPr lang="en-US" sz="4400">
                <a:solidFill>
                  <a:schemeClr val="bg1"/>
                </a:solidFill>
              </a:rPr>
              <a:t> Netz trainieren</a:t>
            </a:r>
            <a:br>
              <a:rPr lang="en-US"/>
            </a:br>
            <a:r>
              <a:rPr lang="en-US" sz="3200">
                <a:solidFill>
                  <a:schemeClr val="bg1"/>
                </a:solidFill>
              </a:rPr>
              <a:t>Dense-Layer</a:t>
            </a:r>
            <a:endParaRPr lang="en-DE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60708-0878-3722-246E-7F79C843F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4364"/>
            <a:ext cx="10515600" cy="40525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sz="2600" b="0" err="1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tf.keras.layers.Dense</a:t>
            </a:r>
            <a:r>
              <a:rPr lang="de-DE" sz="2600" b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(</a:t>
            </a:r>
            <a:r>
              <a:rPr lang="de-DE" sz="2600" b="0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1</a:t>
            </a:r>
            <a:r>
              <a:rPr lang="de-DE" sz="2600" b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,</a:t>
            </a:r>
            <a:r>
              <a:rPr lang="de-DE" sz="2600" b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 </a:t>
            </a:r>
            <a:r>
              <a:rPr lang="de-DE" sz="2600" b="0" err="1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activation</a:t>
            </a:r>
            <a:r>
              <a:rPr lang="de-DE" sz="2600" b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=</a:t>
            </a:r>
            <a:r>
              <a:rPr lang="de-DE" sz="2600" b="0">
                <a:solidFill>
                  <a:srgbClr val="CE9178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"</a:t>
            </a:r>
            <a:r>
              <a:rPr lang="de-DE" sz="2600" b="0" err="1">
                <a:solidFill>
                  <a:srgbClr val="CE9178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sigmoid</a:t>
            </a:r>
            <a:r>
              <a:rPr lang="de-DE" sz="2600" b="0">
                <a:solidFill>
                  <a:srgbClr val="CE9178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"</a:t>
            </a:r>
            <a:r>
              <a:rPr lang="de-DE" sz="2600" b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)</a:t>
            </a:r>
          </a:p>
          <a:p>
            <a:pPr marL="0" indent="0">
              <a:buNone/>
            </a:pPr>
            <a:endParaRPr lang="de-DE" sz="2800">
              <a:latin typeface="Courier New" panose="02070309020205020404" pitchFamily="49" charset="0"/>
            </a:endParaRPr>
          </a:p>
          <a:p>
            <a:endParaRPr lang="en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BD49713-0165-1B46-4DF3-2C34BD285F88}"/>
              </a:ext>
            </a:extLst>
          </p:cNvPr>
          <p:cNvSpPr txBox="1"/>
          <p:nvPr/>
        </p:nvSpPr>
        <p:spPr>
          <a:xfrm>
            <a:off x="8315739" y="6444054"/>
            <a:ext cx="28922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/>
              <a:t>Gru-Zelle: </a:t>
            </a:r>
            <a:r>
              <a:rPr lang="de-DE" sz="1100" err="1"/>
              <a:t>Geron</a:t>
            </a:r>
            <a:r>
              <a:rPr lang="de-DE" sz="1100"/>
              <a:t>, </a:t>
            </a:r>
            <a:r>
              <a:rPr lang="de-DE" sz="1100" err="1"/>
              <a:t>chapter</a:t>
            </a:r>
            <a:r>
              <a:rPr lang="de-DE" sz="1100"/>
              <a:t> 15, </a:t>
            </a:r>
            <a:r>
              <a:rPr lang="de-DE" sz="1100" err="1"/>
              <a:t>page</a:t>
            </a:r>
            <a:r>
              <a:rPr lang="de-DE" sz="1100"/>
              <a:t> 570</a:t>
            </a:r>
          </a:p>
        </p:txBody>
      </p:sp>
      <p:pic>
        <p:nvPicPr>
          <p:cNvPr id="7" name="Grafik 4" descr="Ein Bild, das Diagramm, Reihe, Design enthält.&#10;&#10;Automatisch generierte Beschreibung">
            <a:extLst>
              <a:ext uri="{FF2B5EF4-FFF2-40B4-BE49-F238E27FC236}">
                <a16:creationId xmlns:a16="http://schemas.microsoft.com/office/drawing/2014/main" id="{30505BA3-0598-4302-DA5B-1F225D59F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956" y="3437610"/>
            <a:ext cx="5030076" cy="1519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391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BD09AFB-7029-C3D1-7CFB-D4A69C1A67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55496" y="-399175"/>
            <a:ext cx="12702989" cy="235771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9D222B-9DB5-9930-060C-7EDCD9938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37311" y="-1283855"/>
            <a:ext cx="13466618" cy="31094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8BBD9-4B89-AD49-9EAC-ED8B601C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964" y="116901"/>
            <a:ext cx="10515600" cy="1325563"/>
          </a:xfrm>
        </p:spPr>
        <p:txBody>
          <a:bodyPr/>
          <a:lstStyle/>
          <a:p>
            <a:pPr algn="ctr"/>
            <a:r>
              <a:rPr lang="de-DE">
                <a:solidFill>
                  <a:schemeClr val="bg1"/>
                </a:solidFill>
              </a:rPr>
              <a:t>Trainingsergebnisse</a:t>
            </a:r>
            <a:endParaRPr lang="en-DE">
              <a:solidFill>
                <a:schemeClr val="bg1"/>
              </a:solidFill>
            </a:endParaRPr>
          </a:p>
        </p:txBody>
      </p:sp>
      <p:sp>
        <p:nvSpPr>
          <p:cNvPr id="6" name="Textfeld 4">
            <a:extLst>
              <a:ext uri="{FF2B5EF4-FFF2-40B4-BE49-F238E27FC236}">
                <a16:creationId xmlns:a16="http://schemas.microsoft.com/office/drawing/2014/main" id="{9FD6D3CB-86B6-27D5-189E-3FCF756168FE}"/>
              </a:ext>
            </a:extLst>
          </p:cNvPr>
          <p:cNvSpPr txBox="1"/>
          <p:nvPr/>
        </p:nvSpPr>
        <p:spPr>
          <a:xfrm>
            <a:off x="827689" y="1961843"/>
            <a:ext cx="5491696" cy="20980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de-DE">
                <a:ea typeface="+mn-lt"/>
                <a:cs typeface="+mn-lt"/>
              </a:rPr>
              <a:t>Trainingsergebnisse (</a:t>
            </a:r>
            <a:r>
              <a:rPr lang="de-DE" err="1">
                <a:ea typeface="+mn-lt"/>
                <a:cs typeface="+mn-lt"/>
              </a:rPr>
              <a:t>accuracy</a:t>
            </a:r>
            <a:r>
              <a:rPr lang="de-DE">
                <a:ea typeface="+mn-lt"/>
                <a:cs typeface="+mn-lt"/>
              </a:rPr>
              <a:t>) mit Hyperparametern: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de-DE">
                <a:ea typeface="+mn-lt"/>
                <a:cs typeface="+mn-lt"/>
              </a:rPr>
              <a:t>Loss: </a:t>
            </a:r>
            <a:r>
              <a:rPr lang="de-DE" err="1">
                <a:ea typeface="+mn-lt"/>
                <a:cs typeface="+mn-lt"/>
              </a:rPr>
              <a:t>Binary_crossentropy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de-DE">
                <a:ea typeface="+mn-lt"/>
                <a:cs typeface="+mn-lt"/>
              </a:rPr>
              <a:t>Optimizer: </a:t>
            </a:r>
            <a:r>
              <a:rPr lang="de-DE" err="1">
                <a:ea typeface="+mn-lt"/>
                <a:cs typeface="+mn-lt"/>
              </a:rPr>
              <a:t>nadam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de-DE">
              <a:latin typeface="Arial"/>
              <a:cs typeface="Arial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>
              <a:latin typeface="Arial"/>
              <a:cs typeface="Arial"/>
            </a:endParaRPr>
          </a:p>
          <a:p>
            <a:endParaRPr lang="de-DE" sz="160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59F569F0-3234-5ECA-8C7A-D62DE2673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063" y="5857569"/>
            <a:ext cx="11164056" cy="869085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de-DE" sz="9600"/>
              <a:t>Problem: Die </a:t>
            </a:r>
            <a:r>
              <a:rPr lang="de-DE" sz="9600" err="1"/>
              <a:t>Accuracy</a:t>
            </a:r>
            <a:r>
              <a:rPr lang="de-DE" sz="9600"/>
              <a:t> liegt bei 50% und ist damit nicht besser als raten.</a:t>
            </a:r>
            <a:endParaRPr lang="en-US"/>
          </a:p>
          <a:p>
            <a:pPr marL="0" indent="0">
              <a:buNone/>
            </a:pPr>
            <a:r>
              <a:rPr lang="de-DE" sz="9600"/>
              <a:t>Lösung: </a:t>
            </a:r>
            <a:r>
              <a:rPr lang="de-DE" sz="9600" err="1"/>
              <a:t>Masking</a:t>
            </a:r>
            <a:endParaRPr lang="de-DE" sz="9600"/>
          </a:p>
          <a:p>
            <a:endParaRPr lang="de-DE"/>
          </a:p>
        </p:txBody>
      </p:sp>
      <p:graphicFrame>
        <p:nvGraphicFramePr>
          <p:cNvPr id="8" name="Tabelle 3">
            <a:extLst>
              <a:ext uri="{FF2B5EF4-FFF2-40B4-BE49-F238E27FC236}">
                <a16:creationId xmlns:a16="http://schemas.microsoft.com/office/drawing/2014/main" id="{75674682-3D55-17EF-2FAB-0BF395380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739291"/>
              </p:ext>
            </p:extLst>
          </p:nvPr>
        </p:nvGraphicFramePr>
        <p:xfrm>
          <a:off x="2021631" y="3271554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7944715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026716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3952339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14226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Epochen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DIY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60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50,2%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500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49,9%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109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310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49,7%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518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574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25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BD09AFB-7029-C3D1-7CFB-D4A69C1A67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55496" y="-399175"/>
            <a:ext cx="12702989" cy="235771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9D222B-9DB5-9930-060C-7EDCD9938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37311" y="-1283855"/>
            <a:ext cx="13466618" cy="31094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8BBD9-4B89-AD49-9EAC-ED8B601C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964" y="116901"/>
            <a:ext cx="10515600" cy="1325563"/>
          </a:xfrm>
        </p:spPr>
        <p:txBody>
          <a:bodyPr/>
          <a:lstStyle/>
          <a:p>
            <a:pPr algn="ctr"/>
            <a:r>
              <a:rPr lang="de-DE" sz="4400" err="1">
                <a:solidFill>
                  <a:schemeClr val="bg1"/>
                </a:solidFill>
              </a:rPr>
              <a:t>Masking</a:t>
            </a:r>
            <a:endParaRPr lang="en-DE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60708-0878-3722-246E-7F79C843F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4364"/>
            <a:ext cx="10515600" cy="4052598"/>
          </a:xfrm>
        </p:spPr>
        <p:txBody>
          <a:bodyPr/>
          <a:lstStyle/>
          <a:p>
            <a:r>
              <a:rPr lang="de-DE" sz="2200"/>
              <a:t>Problemursache:</a:t>
            </a:r>
          </a:p>
          <a:p>
            <a:pPr lvl="1"/>
            <a:r>
              <a:rPr lang="de-DE" sz="2200"/>
              <a:t>Manche Reviews sind sehr kurz und erhalten dadurch viel Padding mit 0</a:t>
            </a:r>
          </a:p>
          <a:p>
            <a:pPr lvl="1"/>
            <a:r>
              <a:rPr lang="de-DE" sz="2200"/>
              <a:t>Das RNN vergisst bei vielen Inputs von 0 vorherige Sequenzen</a:t>
            </a:r>
          </a:p>
          <a:p>
            <a:pPr lvl="1"/>
            <a:r>
              <a:rPr lang="de-DE" sz="2200"/>
              <a:t>0-Inputs müssen ignoriert werden</a:t>
            </a:r>
          </a:p>
          <a:p>
            <a:pPr marL="457200" lvl="1" indent="0">
              <a:buNone/>
            </a:pPr>
            <a:endParaRPr lang="de-DE" sz="2200"/>
          </a:p>
          <a:p>
            <a:r>
              <a:rPr lang="de-DE" sz="2200"/>
              <a:t>Lösung:</a:t>
            </a:r>
          </a:p>
          <a:p>
            <a:pPr lvl="1"/>
            <a:r>
              <a:rPr lang="de-DE" sz="2200"/>
              <a:t>„Ragged“-Tensor verwenden 			-kürzt Tensor um 0-Werte</a:t>
            </a:r>
          </a:p>
          <a:p>
            <a:pPr lvl="1"/>
            <a:r>
              <a:rPr lang="de-DE" sz="2200"/>
              <a:t>Embedding-Parameter: mask_zero=True	-gültige Werte=1,ungültige=0</a:t>
            </a:r>
          </a:p>
          <a:p>
            <a:pPr marL="457200" lvl="1" indent="0">
              <a:buNone/>
            </a:pPr>
            <a:r>
              <a:rPr lang="de-DE" sz="2200"/>
              <a:t>	-Besitzt die gleiche Dimension wie das Vokabular</a:t>
            </a:r>
          </a:p>
          <a:p>
            <a:pPr lvl="1"/>
            <a:endParaRPr lang="de-DE" sz="2200"/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454885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BD09AFB-7029-C3D1-7CFB-D4A69C1A67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55496" y="-399175"/>
            <a:ext cx="12702989" cy="235771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9D222B-9DB5-9930-060C-7EDCD9938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37311" y="-1283855"/>
            <a:ext cx="13466618" cy="31094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8BBD9-4B89-AD49-9EAC-ED8B601C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964" y="116901"/>
            <a:ext cx="10515600" cy="1325563"/>
          </a:xfrm>
        </p:spPr>
        <p:txBody>
          <a:bodyPr/>
          <a:lstStyle/>
          <a:p>
            <a:pPr algn="ctr"/>
            <a:r>
              <a:rPr lang="de-DE">
                <a:solidFill>
                  <a:schemeClr val="bg1"/>
                </a:solidFill>
              </a:rPr>
              <a:t>Trainingsergebnisse</a:t>
            </a:r>
            <a:endParaRPr lang="en-DE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60708-0878-3722-246E-7F79C843F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833" y="1958486"/>
            <a:ext cx="5969000" cy="1209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/>
              <a:t>Trainingsergebnisse (</a:t>
            </a:r>
            <a:r>
              <a:rPr lang="de-DE" sz="1800" err="1"/>
              <a:t>accuracy</a:t>
            </a:r>
            <a:r>
              <a:rPr lang="de-DE" sz="1800"/>
              <a:t>) mit Hyperparametern:</a:t>
            </a:r>
          </a:p>
          <a:p>
            <a:pPr marL="0" indent="0">
              <a:buNone/>
            </a:pPr>
            <a:r>
              <a:rPr lang="de-DE" sz="1800"/>
              <a:t>Loss: </a:t>
            </a:r>
            <a:r>
              <a:rPr lang="de-DE" sz="1800" err="1"/>
              <a:t>Binary_crossentropy</a:t>
            </a:r>
            <a:endParaRPr lang="de-DE" sz="1800"/>
          </a:p>
          <a:p>
            <a:pPr marL="0" indent="0">
              <a:buNone/>
            </a:pPr>
            <a:r>
              <a:rPr lang="de-DE" sz="1800"/>
              <a:t>Optimizer: </a:t>
            </a:r>
            <a:r>
              <a:rPr lang="de-DE" sz="1800" err="1"/>
              <a:t>nadam</a:t>
            </a:r>
            <a:endParaRPr lang="de-DE" sz="1800"/>
          </a:p>
          <a:p>
            <a:endParaRPr lang="de-DE" sz="1800"/>
          </a:p>
          <a:p>
            <a:endParaRPr lang="en-DE" sz="1800"/>
          </a:p>
        </p:txBody>
      </p:sp>
      <p:graphicFrame>
        <p:nvGraphicFramePr>
          <p:cNvPr id="6" name="Tabelle 3">
            <a:extLst>
              <a:ext uri="{FF2B5EF4-FFF2-40B4-BE49-F238E27FC236}">
                <a16:creationId xmlns:a16="http://schemas.microsoft.com/office/drawing/2014/main" id="{0E8D90E5-4626-1F5C-58CF-EFF0C9C73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134377"/>
              </p:ext>
            </p:extLst>
          </p:nvPr>
        </p:nvGraphicFramePr>
        <p:xfrm>
          <a:off x="1927400" y="3523674"/>
          <a:ext cx="9417164" cy="2237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3990">
                  <a:extLst>
                    <a:ext uri="{9D8B030D-6E8A-4147-A177-3AD203B41FA5}">
                      <a16:colId xmlns:a16="http://schemas.microsoft.com/office/drawing/2014/main" val="3679447150"/>
                    </a:ext>
                  </a:extLst>
                </a:gridCol>
                <a:gridCol w="1023909">
                  <a:extLst>
                    <a:ext uri="{9D8B030D-6E8A-4147-A177-3AD203B41FA5}">
                      <a16:colId xmlns:a16="http://schemas.microsoft.com/office/drawing/2014/main" val="60267165"/>
                    </a:ext>
                  </a:extLst>
                </a:gridCol>
                <a:gridCol w="1664537">
                  <a:extLst>
                    <a:ext uri="{9D8B030D-6E8A-4147-A177-3AD203B41FA5}">
                      <a16:colId xmlns:a16="http://schemas.microsoft.com/office/drawing/2014/main" val="2439523391"/>
                    </a:ext>
                  </a:extLst>
                </a:gridCol>
                <a:gridCol w="5524728">
                  <a:extLst>
                    <a:ext uri="{9D8B030D-6E8A-4147-A177-3AD203B41FA5}">
                      <a16:colId xmlns:a16="http://schemas.microsoft.com/office/drawing/2014/main" val="3014226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Epochen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DIY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Mit </a:t>
                      </a:r>
                      <a:r>
                        <a:rPr lang="de-DE" err="1"/>
                        <a:t>Masking</a:t>
                      </a:r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60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50,1%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74,1%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500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50,3%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86,2%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109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50,1%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87,8%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310880"/>
                  </a:ext>
                </a:extLst>
              </a:tr>
              <a:tr h="383403">
                <a:tc>
                  <a:txBody>
                    <a:bodyPr/>
                    <a:lstStyle/>
                    <a:p>
                      <a:r>
                        <a:rPr lang="de-DE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50,2%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89,0%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518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50,8%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89,9%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574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999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BD09AFB-7029-C3D1-7CFB-D4A69C1A67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55496" y="-399175"/>
            <a:ext cx="12702989" cy="235771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9D222B-9DB5-9930-060C-7EDCD9938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37311" y="-1283855"/>
            <a:ext cx="13466618" cy="31094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8BBD9-4B89-AD49-9EAC-ED8B601C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964" y="116901"/>
            <a:ext cx="10515600" cy="1325563"/>
          </a:xfrm>
        </p:spPr>
        <p:txBody>
          <a:bodyPr/>
          <a:lstStyle/>
          <a:p>
            <a:pPr algn="ctr"/>
            <a:r>
              <a:rPr lang="de-DE">
                <a:solidFill>
                  <a:schemeClr val="bg1"/>
                </a:solidFill>
              </a:rPr>
              <a:t>Vorgefertigte Modelle/</a:t>
            </a:r>
            <a:r>
              <a:rPr lang="de-DE" err="1">
                <a:solidFill>
                  <a:schemeClr val="bg1"/>
                </a:solidFill>
              </a:rPr>
              <a:t>Embeddings</a:t>
            </a:r>
            <a:endParaRPr lang="en-DE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60708-0878-3722-246E-7F79C843F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de-DE"/>
          </a:p>
          <a:p>
            <a:r>
              <a:rPr lang="de-DE" err="1"/>
              <a:t>Platformen</a:t>
            </a:r>
            <a:r>
              <a:rPr lang="de-DE"/>
              <a:t> als Modell-“Börse“:</a:t>
            </a:r>
          </a:p>
          <a:p>
            <a:pPr lvl="1"/>
            <a:r>
              <a:rPr lang="de-DE" err="1"/>
              <a:t>TensorFlow</a:t>
            </a:r>
            <a:r>
              <a:rPr lang="de-DE"/>
              <a:t> Hub</a:t>
            </a:r>
          </a:p>
          <a:p>
            <a:pPr lvl="1"/>
            <a:r>
              <a:rPr lang="de-DE" err="1"/>
              <a:t>Kaggle</a:t>
            </a:r>
            <a:endParaRPr lang="de-DE"/>
          </a:p>
          <a:p>
            <a:pPr lvl="1"/>
            <a:r>
              <a:rPr lang="de-DE" err="1"/>
              <a:t>Pytorch</a:t>
            </a:r>
            <a:r>
              <a:rPr lang="de-DE"/>
              <a:t> Hub</a:t>
            </a:r>
          </a:p>
          <a:p>
            <a:pPr lvl="1"/>
            <a:r>
              <a:rPr lang="de-DE" err="1"/>
              <a:t>Huggingface</a:t>
            </a:r>
            <a:r>
              <a:rPr lang="de-DE"/>
              <a:t> Model Hub</a:t>
            </a:r>
          </a:p>
          <a:p>
            <a:pPr marL="457200" lvl="1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Einfaches importieren vorgefertigter Modelle mittels TF hub API:</a:t>
            </a:r>
          </a:p>
          <a:p>
            <a:pPr marL="0" indent="0">
              <a:buNone/>
            </a:pPr>
            <a:r>
              <a:rPr lang="en-US" sz="2000" b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hub.KerasLayer</a:t>
            </a:r>
            <a:r>
              <a:rPr lang="en-US" sz="2000" b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(</a:t>
            </a:r>
            <a:r>
              <a:rPr lang="en-US" sz="2000" b="0">
                <a:solidFill>
                  <a:srgbClr val="CE9178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"https://tfhub.dev/google/nnlm-en-dim50/2"</a:t>
            </a:r>
            <a:r>
              <a:rPr lang="en-US" sz="2000" b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,</a:t>
            </a:r>
            <a:br>
              <a:rPr lang="en-US" sz="200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cs typeface="Courier New"/>
              </a:rPr>
            </a:br>
            <a:r>
              <a:rPr lang="en-US" sz="2000" b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trainable=</a:t>
            </a:r>
            <a:r>
              <a:rPr lang="en-US" sz="2000" b="0">
                <a:solidFill>
                  <a:srgbClr val="569CD6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True</a:t>
            </a:r>
            <a:r>
              <a:rPr lang="en-US" sz="2000" b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,</a:t>
            </a:r>
            <a:r>
              <a:rPr lang="en-US" sz="2000" b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 </a:t>
            </a:r>
            <a:r>
              <a:rPr lang="en-US" sz="2000" b="0" err="1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dtype</a:t>
            </a:r>
            <a:r>
              <a:rPr lang="en-US" sz="2000" b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=</a:t>
            </a:r>
            <a:r>
              <a:rPr lang="en-US" sz="2000" b="0" err="1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tf.string</a:t>
            </a:r>
            <a:r>
              <a:rPr lang="en-US" sz="2000" b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,</a:t>
            </a:r>
            <a:r>
              <a:rPr lang="en-US" sz="2000" b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 </a:t>
            </a:r>
            <a:r>
              <a:rPr lang="en-US" sz="2000" b="0" err="1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input_shape</a:t>
            </a:r>
            <a:r>
              <a:rPr lang="en-US" sz="2000" b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=</a:t>
            </a:r>
            <a:r>
              <a:rPr lang="en-US" sz="2000" b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urier New"/>
                <a:cs typeface="Courier New"/>
              </a:rPr>
              <a:t>[])</a:t>
            </a:r>
          </a:p>
        </p:txBody>
      </p:sp>
    </p:spTree>
    <p:extLst>
      <p:ext uri="{BB962C8B-B14F-4D97-AF65-F5344CB8AC3E}">
        <p14:creationId xmlns:p14="http://schemas.microsoft.com/office/powerpoint/2010/main" val="31580113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BD09AFB-7029-C3D1-7CFB-D4A69C1A67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55496" y="-399175"/>
            <a:ext cx="12702989" cy="235771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9D222B-9DB5-9930-060C-7EDCD9938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37311" y="-1283855"/>
            <a:ext cx="13466618" cy="31094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8BBD9-4B89-AD49-9EAC-ED8B601C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964" y="116901"/>
            <a:ext cx="10515600" cy="1325563"/>
          </a:xfrm>
        </p:spPr>
        <p:txBody>
          <a:bodyPr/>
          <a:lstStyle/>
          <a:p>
            <a:pPr algn="ctr"/>
            <a:r>
              <a:rPr lang="de-DE">
                <a:solidFill>
                  <a:schemeClr val="bg1"/>
                </a:solidFill>
              </a:rPr>
              <a:t>Trainingsergebnisse</a:t>
            </a:r>
            <a:endParaRPr lang="en-DE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60708-0878-3722-246E-7F79C843F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056" y="1958595"/>
            <a:ext cx="5479473" cy="1603375"/>
          </a:xfrm>
        </p:spPr>
        <p:txBody>
          <a:bodyPr/>
          <a:lstStyle/>
          <a:p>
            <a:pPr marL="0" indent="0">
              <a:buNone/>
            </a:pPr>
            <a:r>
              <a:rPr lang="de-DE" sz="1800"/>
              <a:t>Trainingsergebnisse (</a:t>
            </a:r>
            <a:r>
              <a:rPr lang="de-DE" sz="1800" err="1"/>
              <a:t>accuracy</a:t>
            </a:r>
            <a:r>
              <a:rPr lang="de-DE" sz="1800"/>
              <a:t>) mit Hyperparametern:</a:t>
            </a:r>
          </a:p>
          <a:p>
            <a:pPr marL="0" indent="0">
              <a:buNone/>
            </a:pPr>
            <a:r>
              <a:rPr lang="de-DE" sz="1800"/>
              <a:t>Loss: </a:t>
            </a:r>
            <a:r>
              <a:rPr lang="de-DE" sz="1800" err="1"/>
              <a:t>Binary_crossentropy</a:t>
            </a:r>
            <a:endParaRPr lang="de-DE" sz="1800"/>
          </a:p>
          <a:p>
            <a:pPr marL="0" indent="0">
              <a:buNone/>
            </a:pPr>
            <a:r>
              <a:rPr lang="de-DE" sz="1800"/>
              <a:t>Optimizer: </a:t>
            </a:r>
            <a:r>
              <a:rPr lang="de-DE" sz="1800" err="1"/>
              <a:t>nadam</a:t>
            </a:r>
            <a:endParaRPr lang="de-DE" sz="1800"/>
          </a:p>
          <a:p>
            <a:pPr marL="0" indent="0">
              <a:buNone/>
            </a:pPr>
            <a:endParaRPr lang="de-DE" sz="1800"/>
          </a:p>
          <a:p>
            <a:pPr marL="0" indent="0">
              <a:buNone/>
            </a:pPr>
            <a:endParaRPr lang="en-DE"/>
          </a:p>
        </p:txBody>
      </p:sp>
      <p:graphicFrame>
        <p:nvGraphicFramePr>
          <p:cNvPr id="6" name="Tabelle 3">
            <a:extLst>
              <a:ext uri="{FF2B5EF4-FFF2-40B4-BE49-F238E27FC236}">
                <a16:creationId xmlns:a16="http://schemas.microsoft.com/office/drawing/2014/main" id="{DB89FABF-FF6E-D178-7498-786B80ACF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552422"/>
              </p:ext>
            </p:extLst>
          </p:nvPr>
        </p:nvGraphicFramePr>
        <p:xfrm>
          <a:off x="1378182" y="3429000"/>
          <a:ext cx="9417162" cy="31469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3989">
                  <a:extLst>
                    <a:ext uri="{9D8B030D-6E8A-4147-A177-3AD203B41FA5}">
                      <a16:colId xmlns:a16="http://schemas.microsoft.com/office/drawing/2014/main" val="3679447150"/>
                    </a:ext>
                  </a:extLst>
                </a:gridCol>
                <a:gridCol w="1023909">
                  <a:extLst>
                    <a:ext uri="{9D8B030D-6E8A-4147-A177-3AD203B41FA5}">
                      <a16:colId xmlns:a16="http://schemas.microsoft.com/office/drawing/2014/main" val="60267165"/>
                    </a:ext>
                  </a:extLst>
                </a:gridCol>
                <a:gridCol w="1664537">
                  <a:extLst>
                    <a:ext uri="{9D8B030D-6E8A-4147-A177-3AD203B41FA5}">
                      <a16:colId xmlns:a16="http://schemas.microsoft.com/office/drawing/2014/main" val="2439523391"/>
                    </a:ext>
                  </a:extLst>
                </a:gridCol>
                <a:gridCol w="5524727">
                  <a:extLst>
                    <a:ext uri="{9D8B030D-6E8A-4147-A177-3AD203B41FA5}">
                      <a16:colId xmlns:a16="http://schemas.microsoft.com/office/drawing/2014/main" val="3014226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Epochen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DIY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Mit </a:t>
                      </a:r>
                      <a:r>
                        <a:rPr lang="de-DE" err="1"/>
                        <a:t>Masking</a:t>
                      </a:r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Vortrainiertes Modell:</a:t>
                      </a:r>
                    </a:p>
                    <a:p>
                      <a:r>
                        <a:rPr lang="de-DE"/>
                        <a:t>„universal </a:t>
                      </a:r>
                      <a:r>
                        <a:rPr lang="de-DE" err="1"/>
                        <a:t>sentence</a:t>
                      </a:r>
                      <a:r>
                        <a:rPr lang="de-DE"/>
                        <a:t> </a:t>
                      </a:r>
                      <a:r>
                        <a:rPr lang="de-DE" err="1"/>
                        <a:t>encoder</a:t>
                      </a:r>
                      <a:r>
                        <a:rPr lang="de-DE"/>
                        <a:t> “ – </a:t>
                      </a:r>
                      <a:r>
                        <a:rPr lang="de-DE" err="1"/>
                        <a:t>cmlm</a:t>
                      </a:r>
                      <a:r>
                        <a:rPr lang="de-DE"/>
                        <a:t>-en-base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60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50,1%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74,1%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82,8%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500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50,3%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86,2%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94,0%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109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50,1%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87,8%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97,9%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310880"/>
                  </a:ext>
                </a:extLst>
              </a:tr>
              <a:tr h="383403">
                <a:tc>
                  <a:txBody>
                    <a:bodyPr/>
                    <a:lstStyle/>
                    <a:p>
                      <a:r>
                        <a:rPr lang="de-DE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50,2%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89,0%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99,5%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518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50,8%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89,9%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99,9%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574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Test</a:t>
                      </a:r>
                    </a:p>
                    <a:p>
                      <a:r>
                        <a:rPr lang="de-DE" err="1"/>
                        <a:t>Accuracy</a:t>
                      </a:r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50,33%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86,38%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84,51%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113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0696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8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10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12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58FEBA-07B5-DDA1-1425-9ADCD0CF9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791" y="1109805"/>
            <a:ext cx="3665034" cy="10865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de-DE" sz="3600" err="1">
                <a:solidFill>
                  <a:schemeClr val="bg1"/>
                </a:solidFill>
                <a:ea typeface="+mj-lt"/>
                <a:cs typeface="+mj-lt"/>
              </a:rPr>
              <a:t>ChatGPT</a:t>
            </a:r>
            <a:r>
              <a:rPr lang="de-DE" sz="3600">
                <a:solidFill>
                  <a:schemeClr val="bg1"/>
                </a:solidFill>
                <a:ea typeface="+mj-lt"/>
                <a:cs typeface="+mj-lt"/>
              </a:rPr>
              <a:t> im Vergleich</a:t>
            </a:r>
            <a:endParaRPr lang="en-US" sz="3600">
              <a:solidFill>
                <a:schemeClr val="bg1"/>
              </a:solidFill>
              <a:ea typeface="+mj-lt"/>
              <a:cs typeface="+mj-l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4D1404-4903-1242-5524-3989D43F1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0796" y="1684181"/>
            <a:ext cx="7257606" cy="33144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sz="2400" err="1"/>
              <a:t>ChatGPT</a:t>
            </a:r>
            <a:r>
              <a:rPr lang="de-DE" sz="2400"/>
              <a:t>:</a:t>
            </a:r>
          </a:p>
          <a:p>
            <a:pPr lvl="1"/>
            <a:r>
              <a:rPr lang="de-DE" sz="2000"/>
              <a:t>ist ein generelles (multimodales) Modell, das eine Vielzahl Tasks im Bereich des NLP bearbeiten kann</a:t>
            </a:r>
          </a:p>
          <a:p>
            <a:pPr lvl="1"/>
            <a:r>
              <a:rPr lang="de-DE" sz="2000"/>
              <a:t>hat Milliarden von Parametern</a:t>
            </a:r>
          </a:p>
          <a:p>
            <a:endParaRPr lang="de-DE" sz="2400"/>
          </a:p>
          <a:p>
            <a:r>
              <a:rPr lang="de-DE" sz="2400"/>
              <a:t>Unser Modell:</a:t>
            </a:r>
            <a:endParaRPr lang="de-DE"/>
          </a:p>
          <a:p>
            <a:pPr lvl="1"/>
            <a:r>
              <a:rPr lang="de-DE" sz="2000"/>
              <a:t>kann nur ein Task aus NLP bearbeiten (Sentiment Analysis)</a:t>
            </a:r>
          </a:p>
          <a:p>
            <a:pPr lvl="1"/>
            <a:r>
              <a:rPr lang="de-DE" sz="2000"/>
              <a:t>hat wenige Parameter</a:t>
            </a:r>
          </a:p>
        </p:txBody>
      </p:sp>
    </p:spTree>
    <p:extLst>
      <p:ext uri="{BB962C8B-B14F-4D97-AF65-F5344CB8AC3E}">
        <p14:creationId xmlns:p14="http://schemas.microsoft.com/office/powerpoint/2010/main" val="8582659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8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10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12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58FEBA-07B5-DDA1-1425-9ADCD0CF9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791" y="1109805"/>
            <a:ext cx="3665034" cy="10865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de-DE" sz="3600" err="1">
                <a:solidFill>
                  <a:schemeClr val="bg1"/>
                </a:solidFill>
                <a:ea typeface="+mj-lt"/>
                <a:cs typeface="+mj-lt"/>
              </a:rPr>
              <a:t>Where</a:t>
            </a:r>
            <a:r>
              <a:rPr lang="de-DE" sz="360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de-DE" sz="3600" err="1">
                <a:solidFill>
                  <a:schemeClr val="bg1"/>
                </a:solidFill>
                <a:ea typeface="+mj-lt"/>
                <a:cs typeface="+mj-lt"/>
              </a:rPr>
              <a:t>to</a:t>
            </a:r>
            <a:r>
              <a:rPr lang="de-DE" sz="360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de-DE" sz="3600" err="1">
                <a:solidFill>
                  <a:schemeClr val="bg1"/>
                </a:solidFill>
                <a:ea typeface="+mj-lt"/>
                <a:cs typeface="+mj-lt"/>
              </a:rPr>
              <a:t>go</a:t>
            </a:r>
            <a:r>
              <a:rPr lang="de-DE" sz="360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de-DE" sz="3600" err="1">
                <a:solidFill>
                  <a:schemeClr val="bg1"/>
                </a:solidFill>
                <a:ea typeface="+mj-lt"/>
                <a:cs typeface="+mj-lt"/>
              </a:rPr>
              <a:t>from</a:t>
            </a:r>
            <a:r>
              <a:rPr lang="de-DE" sz="360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de-DE" sz="3600" err="1">
                <a:solidFill>
                  <a:schemeClr val="bg1"/>
                </a:solidFill>
                <a:ea typeface="+mj-lt"/>
                <a:cs typeface="+mj-lt"/>
              </a:rPr>
              <a:t>here</a:t>
            </a:r>
            <a:r>
              <a:rPr lang="de-DE" sz="3600">
                <a:solidFill>
                  <a:schemeClr val="bg1"/>
                </a:solidFill>
                <a:ea typeface="+mj-lt"/>
                <a:cs typeface="+mj-lt"/>
              </a:rPr>
              <a:t>?</a:t>
            </a:r>
            <a:endParaRPr lang="en-US" sz="3600">
              <a:solidFill>
                <a:schemeClr val="bg1"/>
              </a:solidFill>
              <a:ea typeface="+mj-lt"/>
              <a:cs typeface="+mj-l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4D1404-4903-1242-5524-3989D43F1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122" y="1238916"/>
            <a:ext cx="7107280" cy="51110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sz="2400" dirty="0"/>
              <a:t>Ressourcen</a:t>
            </a:r>
          </a:p>
          <a:p>
            <a:pPr lvl="1"/>
            <a:r>
              <a:rPr lang="de-DE" sz="2000" dirty="0"/>
              <a:t>Aurélion Géron – Hands-on Machine Learning (insb. Kapitel 16 für NLP)</a:t>
            </a:r>
          </a:p>
          <a:p>
            <a:pPr lvl="1"/>
            <a:r>
              <a:rPr lang="de-DE" sz="2000" dirty="0"/>
              <a:t>3Blue1Brown - „But what is a GPT? Visual intro to transformers | Chapter 5, Deep Learning“</a:t>
            </a:r>
            <a:br>
              <a:rPr lang="de-DE" dirty="0"/>
            </a:br>
            <a:r>
              <a:rPr lang="de-DE" sz="1500" dirty="0">
                <a:hlinkClick r:id="rId2"/>
              </a:rPr>
              <a:t>https://www.youtube.com/watch?v=wjZofJX0v4M</a:t>
            </a:r>
            <a:r>
              <a:rPr lang="de-DE" sz="1500" dirty="0"/>
              <a:t> </a:t>
            </a:r>
            <a:endParaRPr lang="de-DE" dirty="0"/>
          </a:p>
          <a:p>
            <a:r>
              <a:rPr lang="de-DE" sz="2400" dirty="0"/>
              <a:t>Themen/ Konzepte:</a:t>
            </a:r>
          </a:p>
          <a:p>
            <a:pPr lvl="1"/>
            <a:r>
              <a:rPr lang="de-DE" sz="2000" dirty="0"/>
              <a:t>Rekurrente NN</a:t>
            </a:r>
          </a:p>
          <a:p>
            <a:pPr lvl="1"/>
            <a:r>
              <a:rPr lang="de-DE" sz="2000" dirty="0"/>
              <a:t>LSTM-Zellen, GRU-Zellen</a:t>
            </a:r>
          </a:p>
          <a:p>
            <a:pPr lvl="1"/>
            <a:r>
              <a:rPr lang="de-DE" sz="2000" dirty="0"/>
              <a:t>Transformer-Architektur (bspw. ChatGPT)</a:t>
            </a:r>
          </a:p>
          <a:p>
            <a:pPr lvl="1"/>
            <a:r>
              <a:rPr lang="de-DE" sz="2000" dirty="0"/>
              <a:t>Encoder-Decoder Architektur</a:t>
            </a:r>
          </a:p>
          <a:p>
            <a:pPr lvl="1"/>
            <a:r>
              <a:rPr lang="de-DE" sz="2000" dirty="0"/>
              <a:t>Embedding</a:t>
            </a:r>
          </a:p>
          <a:p>
            <a:pPr lvl="1"/>
            <a:r>
              <a:rPr lang="de-DE" sz="2000" dirty="0"/>
              <a:t>Tokenization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093280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BD09AFB-7029-C3D1-7CFB-D4A69C1A67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55496" y="-399175"/>
            <a:ext cx="12702989" cy="235771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9D222B-9DB5-9930-060C-7EDCD9938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37311" y="-1283855"/>
            <a:ext cx="13466618" cy="31094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8BBD9-4B89-AD49-9EAC-ED8B601C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964" y="116901"/>
            <a:ext cx="10515600" cy="1325563"/>
          </a:xfrm>
        </p:spPr>
        <p:txBody>
          <a:bodyPr/>
          <a:lstStyle/>
          <a:p>
            <a:pPr algn="ctr"/>
            <a:r>
              <a:rPr lang="de-DE">
                <a:solidFill>
                  <a:srgbClr val="FFFFFF"/>
                </a:solidFill>
              </a:rPr>
              <a:t>Literaturverzeichnis</a:t>
            </a:r>
            <a:endParaRPr lang="en-DE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60708-0878-3722-246E-7F79C843F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2207491"/>
            <a:ext cx="10515600" cy="4071071"/>
          </a:xfrm>
        </p:spPr>
        <p:txBody>
          <a:bodyPr/>
          <a:lstStyle/>
          <a:p>
            <a:r>
              <a:rPr lang="de-DE"/>
              <a:t>[Géron22]: Aurélien </a:t>
            </a:r>
            <a:r>
              <a:rPr lang="de-DE" err="1"/>
              <a:t>Géron</a:t>
            </a:r>
            <a:r>
              <a:rPr lang="de-DE"/>
              <a:t> „Hands-On </a:t>
            </a:r>
            <a:r>
              <a:rPr lang="de-DE" err="1"/>
              <a:t>Machine</a:t>
            </a:r>
            <a:r>
              <a:rPr lang="de-DE"/>
              <a:t> Learning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Scikit-Learn</a:t>
            </a:r>
            <a:r>
              <a:rPr lang="de-DE"/>
              <a:t>, Keras &amp; </a:t>
            </a:r>
            <a:r>
              <a:rPr lang="de-DE" err="1"/>
              <a:t>TensorFlow</a:t>
            </a:r>
            <a:r>
              <a:rPr lang="de-DE"/>
              <a:t>“ 3rd </a:t>
            </a:r>
            <a:r>
              <a:rPr lang="de-DE" err="1"/>
              <a:t>edition</a:t>
            </a:r>
            <a:r>
              <a:rPr lang="de-DE"/>
              <a:t>, 2022</a:t>
            </a:r>
          </a:p>
          <a:p>
            <a:r>
              <a:rPr lang="en-US"/>
              <a:t>[Jurafsky22]: </a:t>
            </a:r>
            <a:r>
              <a:rPr lang="en-US" err="1"/>
              <a:t>Jurafsky</a:t>
            </a:r>
            <a:r>
              <a:rPr lang="en-US"/>
              <a:t>, Daniel, and James H. Martin. “Speech and Language Processing: An Introduction to Natural Language Processing, Computational Linguistics, and Speech Recognition.”, 3rd edition, 2022 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 err="1">
                <a:sym typeface="Wingdings" panose="05000000000000000000" pitchFamily="2" charset="2"/>
              </a:rPr>
              <a:t>Fokus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ist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mehr</a:t>
            </a:r>
            <a:r>
              <a:rPr lang="en-US">
                <a:sym typeface="Wingdings" panose="05000000000000000000" pitchFamily="2" charset="2"/>
              </a:rPr>
              <a:t> auf </a:t>
            </a:r>
            <a:r>
              <a:rPr lang="en-US" err="1">
                <a:sym typeface="Wingdings" panose="05000000000000000000" pitchFamily="2" charset="2"/>
              </a:rPr>
              <a:t>Linguistik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statt</a:t>
            </a:r>
            <a:r>
              <a:rPr lang="en-US">
                <a:sym typeface="Wingdings" panose="05000000000000000000" pitchFamily="2" charset="2"/>
              </a:rPr>
              <a:t> DLML</a:t>
            </a:r>
            <a:endParaRPr lang="de-DE"/>
          </a:p>
          <a:p>
            <a:endParaRPr lang="de-DE"/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309913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BD09AFB-7029-C3D1-7CFB-D4A69C1A67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55496" y="-399175"/>
            <a:ext cx="12702989" cy="235771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9D222B-9DB5-9930-060C-7EDCD9938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37311" y="-1283855"/>
            <a:ext cx="13466618" cy="31094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95544986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arissa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1875</Words>
  <Application>Microsoft Office PowerPoint</Application>
  <PresentationFormat>Breitbild</PresentationFormat>
  <Paragraphs>349</Paragraphs>
  <Slides>31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10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31</vt:i4>
      </vt:variant>
    </vt:vector>
  </HeadingPairs>
  <TitlesOfParts>
    <vt:vector size="42" baseType="lpstr">
      <vt:lpstr>Aptos</vt:lpstr>
      <vt:lpstr>Aptos Display</vt:lpstr>
      <vt:lpstr>Arial</vt:lpstr>
      <vt:lpstr>Arial,Sans-Serif</vt:lpstr>
      <vt:lpstr>Calibri</vt:lpstr>
      <vt:lpstr>Cordia New</vt:lpstr>
      <vt:lpstr>Courier New</vt:lpstr>
      <vt:lpstr>Roboto</vt:lpstr>
      <vt:lpstr>sohne</vt:lpstr>
      <vt:lpstr>Wingdings</vt:lpstr>
      <vt:lpstr>Larissa</vt:lpstr>
      <vt:lpstr>Natural Language Processing</vt:lpstr>
      <vt:lpstr> Inhaltsverzeichnis</vt:lpstr>
      <vt:lpstr>Was ist Natural Language Processing (NLP)? </vt:lpstr>
      <vt:lpstr>Subfelder des NLP-Gebiets</vt:lpstr>
      <vt:lpstr>Woraus besteht ChatGPT?</vt:lpstr>
      <vt:lpstr>Woraus besteht ChatGPT?</vt:lpstr>
      <vt:lpstr>Unser Thema: Sentiment Analysis</vt:lpstr>
      <vt:lpstr> Inhaltsverzeichnis</vt:lpstr>
      <vt:lpstr>Vorverarbeitung – Der Datensatz</vt:lpstr>
      <vt:lpstr>Vorverarbeitung: Tokenization</vt:lpstr>
      <vt:lpstr>Vorverarbeitung: Tokenization</vt:lpstr>
      <vt:lpstr>Vorverarbeitung: Tokenization</vt:lpstr>
      <vt:lpstr>Vorverarbeitung: Embedding</vt:lpstr>
      <vt:lpstr>Vorverarbeitung: Embedding</vt:lpstr>
      <vt:lpstr>Vorverarbeitung:  Embedding</vt:lpstr>
      <vt:lpstr>Vorverarbeitung:  Embedding</vt:lpstr>
      <vt:lpstr> Inhaltsverzeichnis</vt:lpstr>
      <vt:lpstr>Neuronales Netz trainieren Rekurrentes NN</vt:lpstr>
      <vt:lpstr>Neuronales Netz trainieren Text Vectorization Layer</vt:lpstr>
      <vt:lpstr>Neuronales Netz trainieren Embedding Layer</vt:lpstr>
      <vt:lpstr>Neuronales Netz trainieren GRU-Layer (“Gated recurrent unit”)</vt:lpstr>
      <vt:lpstr>Neuronales Netz trainieren Dense-Layer</vt:lpstr>
      <vt:lpstr>Trainingsergebnisse</vt:lpstr>
      <vt:lpstr>Masking</vt:lpstr>
      <vt:lpstr>Trainingsergebnisse</vt:lpstr>
      <vt:lpstr>Vorgefertigte Modelle/Embeddings</vt:lpstr>
      <vt:lpstr>Trainingsergebnisse</vt:lpstr>
      <vt:lpstr>ChatGPT im Vergleich</vt:lpstr>
      <vt:lpstr>Where to go from here?</vt:lpstr>
      <vt:lpstr>Literaturverzeichnis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Sven</dc:creator>
  <cp:lastModifiedBy>Sven Heiter (sheiter)</cp:lastModifiedBy>
  <cp:revision>2</cp:revision>
  <dcterms:created xsi:type="dcterms:W3CDTF">2024-05-15T15:26:27Z</dcterms:created>
  <dcterms:modified xsi:type="dcterms:W3CDTF">2024-07-23T13:50:47Z</dcterms:modified>
</cp:coreProperties>
</file>